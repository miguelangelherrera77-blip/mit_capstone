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xgbYjccChfboh+PxKghejRKdf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1F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277F1-729D-4533-9937-95B36D51CB5B}" v="2" dt="2026-08-06T07:05:58.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zza Maira" userId="d0a25a6f-4008-4c86-8740-27856525f3e1" providerId="ADAL" clId="{A44FACB3-3A32-418A-B1D8-F602B668736A}"/>
    <pc:docChg chg="undo custSel addSld modSld">
      <pc:chgData name="Fizza Maira" userId="d0a25a6f-4008-4c86-8740-27856525f3e1" providerId="ADAL" clId="{A44FACB3-3A32-418A-B1D8-F602B668736A}" dt="2026-08-06T07:13:10.115" v="595" actId="1076"/>
      <pc:docMkLst>
        <pc:docMk/>
      </pc:docMkLst>
      <pc:sldChg chg="modSp mod">
        <pc:chgData name="Fizza Maira" userId="d0a25a6f-4008-4c86-8740-27856525f3e1" providerId="ADAL" clId="{A44FACB3-3A32-418A-B1D8-F602B668736A}" dt="2026-08-06T06:56:31.796" v="66" actId="207"/>
        <pc:sldMkLst>
          <pc:docMk/>
          <pc:sldMk cId="0" sldId="256"/>
        </pc:sldMkLst>
        <pc:spChg chg="mod">
          <ac:chgData name="Fizza Maira" userId="d0a25a6f-4008-4c86-8740-27856525f3e1" providerId="ADAL" clId="{A44FACB3-3A32-418A-B1D8-F602B668736A}" dt="2026-08-06T06:56:31.796" v="66" actId="207"/>
          <ac:spMkLst>
            <pc:docMk/>
            <pc:sldMk cId="0" sldId="256"/>
            <ac:spMk id="94" creationId="{00000000-0000-0000-0000-000000000000}"/>
          </ac:spMkLst>
        </pc:spChg>
      </pc:sldChg>
      <pc:sldChg chg="addSp delSp modSp mod">
        <pc:chgData name="Fizza Maira" userId="d0a25a6f-4008-4c86-8740-27856525f3e1" providerId="ADAL" clId="{A44FACB3-3A32-418A-B1D8-F602B668736A}" dt="2026-08-06T06:59:42.372" v="125" actId="1036"/>
        <pc:sldMkLst>
          <pc:docMk/>
          <pc:sldMk cId="0" sldId="257"/>
        </pc:sldMkLst>
        <pc:spChg chg="add mod">
          <ac:chgData name="Fizza Maira" userId="d0a25a6f-4008-4c86-8740-27856525f3e1" providerId="ADAL" clId="{A44FACB3-3A32-418A-B1D8-F602B668736A}" dt="2026-08-06T06:56:48.518" v="69" actId="122"/>
          <ac:spMkLst>
            <pc:docMk/>
            <pc:sldMk cId="0" sldId="257"/>
            <ac:spMk id="3" creationId="{6E5FE501-52FC-9663-175F-EE814939F785}"/>
          </ac:spMkLst>
        </pc:spChg>
        <pc:spChg chg="add mod">
          <ac:chgData name="Fizza Maira" userId="d0a25a6f-4008-4c86-8740-27856525f3e1" providerId="ADAL" clId="{A44FACB3-3A32-418A-B1D8-F602B668736A}" dt="2026-08-06T06:59:42.372" v="125" actId="1036"/>
          <ac:spMkLst>
            <pc:docMk/>
            <pc:sldMk cId="0" sldId="257"/>
            <ac:spMk id="5" creationId="{F18859DA-4EBF-86FB-39DA-CC40AEFAA531}"/>
          </ac:spMkLst>
        </pc:spChg>
        <pc:spChg chg="add del mod">
          <ac:chgData name="Fizza Maira" userId="d0a25a6f-4008-4c86-8740-27856525f3e1" providerId="ADAL" clId="{A44FACB3-3A32-418A-B1D8-F602B668736A}" dt="2026-08-06T06:56:56.706" v="71" actId="478"/>
          <ac:spMkLst>
            <pc:docMk/>
            <pc:sldMk cId="0" sldId="257"/>
            <ac:spMk id="7" creationId="{47ACB267-F7CA-D45F-F1B9-E208296EE326}"/>
          </ac:spMkLst>
        </pc:spChg>
        <pc:spChg chg="add del mod">
          <ac:chgData name="Fizza Maira" userId="d0a25a6f-4008-4c86-8740-27856525f3e1" providerId="ADAL" clId="{A44FACB3-3A32-418A-B1D8-F602B668736A}" dt="2026-08-06T06:56:52.400" v="70" actId="478"/>
          <ac:spMkLst>
            <pc:docMk/>
            <pc:sldMk cId="0" sldId="257"/>
            <ac:spMk id="9" creationId="{8C2CC35A-C1C4-C9E7-86A2-232A1BAC361B}"/>
          </ac:spMkLst>
        </pc:spChg>
      </pc:sldChg>
      <pc:sldChg chg="addSp delSp modSp mod">
        <pc:chgData name="Fizza Maira" userId="d0a25a6f-4008-4c86-8740-27856525f3e1" providerId="ADAL" clId="{A44FACB3-3A32-418A-B1D8-F602B668736A}" dt="2026-08-06T07:07:56.465" v="389" actId="1035"/>
        <pc:sldMkLst>
          <pc:docMk/>
          <pc:sldMk cId="0" sldId="258"/>
        </pc:sldMkLst>
        <pc:spChg chg="add mod">
          <ac:chgData name="Fizza Maira" userId="d0a25a6f-4008-4c86-8740-27856525f3e1" providerId="ADAL" clId="{A44FACB3-3A32-418A-B1D8-F602B668736A}" dt="2026-08-06T07:07:56.465" v="389" actId="1035"/>
          <ac:spMkLst>
            <pc:docMk/>
            <pc:sldMk cId="0" sldId="258"/>
            <ac:spMk id="3" creationId="{9809ED82-7865-1E75-8005-E3EE187972A9}"/>
          </ac:spMkLst>
        </pc:spChg>
        <pc:spChg chg="add del">
          <ac:chgData name="Fizza Maira" userId="d0a25a6f-4008-4c86-8740-27856525f3e1" providerId="ADAL" clId="{A44FACB3-3A32-418A-B1D8-F602B668736A}" dt="2026-08-06T06:57:33.761" v="75" actId="22"/>
          <ac:spMkLst>
            <pc:docMk/>
            <pc:sldMk cId="0" sldId="258"/>
            <ac:spMk id="5" creationId="{8F03CF5C-94F2-6975-E3F3-1B4B69AD5D5D}"/>
          </ac:spMkLst>
        </pc:spChg>
        <pc:spChg chg="add del mod">
          <ac:chgData name="Fizza Maira" userId="d0a25a6f-4008-4c86-8740-27856525f3e1" providerId="ADAL" clId="{A44FACB3-3A32-418A-B1D8-F602B668736A}" dt="2026-08-06T06:58:06.206" v="84" actId="21"/>
          <ac:spMkLst>
            <pc:docMk/>
            <pc:sldMk cId="0" sldId="258"/>
            <ac:spMk id="7" creationId="{22D905D9-AAC5-3957-E29C-1F3E78727844}"/>
          </ac:spMkLst>
        </pc:spChg>
        <pc:spChg chg="add mod">
          <ac:chgData name="Fizza Maira" userId="d0a25a6f-4008-4c86-8740-27856525f3e1" providerId="ADAL" clId="{A44FACB3-3A32-418A-B1D8-F602B668736A}" dt="2026-08-06T07:07:18.056" v="299" actId="12788"/>
          <ac:spMkLst>
            <pc:docMk/>
            <pc:sldMk cId="0" sldId="258"/>
            <ac:spMk id="9" creationId="{73F3F64E-BE4D-D3DF-57D5-BF67AE1E9EDD}"/>
          </ac:spMkLst>
        </pc:spChg>
      </pc:sldChg>
      <pc:sldChg chg="addSp modSp new mod">
        <pc:chgData name="Fizza Maira" userId="d0a25a6f-4008-4c86-8740-27856525f3e1" providerId="ADAL" clId="{A44FACB3-3A32-418A-B1D8-F602B668736A}" dt="2026-08-06T07:08:22.098" v="420" actId="1035"/>
        <pc:sldMkLst>
          <pc:docMk/>
          <pc:sldMk cId="3289224814" sldId="259"/>
        </pc:sldMkLst>
        <pc:spChg chg="add mod">
          <ac:chgData name="Fizza Maira" userId="d0a25a6f-4008-4c86-8740-27856525f3e1" providerId="ADAL" clId="{A44FACB3-3A32-418A-B1D8-F602B668736A}" dt="2026-08-06T07:08:22.098" v="420" actId="1035"/>
          <ac:spMkLst>
            <pc:docMk/>
            <pc:sldMk cId="3289224814" sldId="259"/>
            <ac:spMk id="3" creationId="{31AE4673-2310-7768-CAFE-C71E228846A7}"/>
          </ac:spMkLst>
        </pc:spChg>
        <pc:spChg chg="add mod">
          <ac:chgData name="Fizza Maira" userId="d0a25a6f-4008-4c86-8740-27856525f3e1" providerId="ADAL" clId="{A44FACB3-3A32-418A-B1D8-F602B668736A}" dt="2026-08-06T07:07:48.107" v="348" actId="20577"/>
          <ac:spMkLst>
            <pc:docMk/>
            <pc:sldMk cId="3289224814" sldId="259"/>
            <ac:spMk id="5" creationId="{98CF4003-6B2E-87CF-2817-76889C6135B4}"/>
          </ac:spMkLst>
        </pc:spChg>
      </pc:sldChg>
      <pc:sldChg chg="addSp modSp new mod">
        <pc:chgData name="Fizza Maira" userId="d0a25a6f-4008-4c86-8740-27856525f3e1" providerId="ADAL" clId="{A44FACB3-3A32-418A-B1D8-F602B668736A}" dt="2026-08-06T07:10:21.214" v="482"/>
        <pc:sldMkLst>
          <pc:docMk/>
          <pc:sldMk cId="3987153470" sldId="260"/>
        </pc:sldMkLst>
        <pc:spChg chg="add mod">
          <ac:chgData name="Fizza Maira" userId="d0a25a6f-4008-4c86-8740-27856525f3e1" providerId="ADAL" clId="{A44FACB3-3A32-418A-B1D8-F602B668736A}" dt="2026-08-06T07:09:54.338" v="481" actId="1076"/>
          <ac:spMkLst>
            <pc:docMk/>
            <pc:sldMk cId="3987153470" sldId="260"/>
            <ac:spMk id="3" creationId="{FBE09B85-CBAA-6E41-F9C1-5D0C62D32631}"/>
          </ac:spMkLst>
        </pc:spChg>
        <pc:spChg chg="add mod">
          <ac:chgData name="Fizza Maira" userId="d0a25a6f-4008-4c86-8740-27856525f3e1" providerId="ADAL" clId="{A44FACB3-3A32-418A-B1D8-F602B668736A}" dt="2026-08-06T07:10:21.214" v="482"/>
          <ac:spMkLst>
            <pc:docMk/>
            <pc:sldMk cId="3987153470" sldId="260"/>
            <ac:spMk id="5" creationId="{E2D08B99-26E8-96E3-B453-DEED97ED3C1F}"/>
          </ac:spMkLst>
        </pc:spChg>
      </pc:sldChg>
      <pc:sldChg chg="addSp modSp new mod">
        <pc:chgData name="Fizza Maira" userId="d0a25a6f-4008-4c86-8740-27856525f3e1" providerId="ADAL" clId="{A44FACB3-3A32-418A-B1D8-F602B668736A}" dt="2026-08-06T07:11:25.705" v="519" actId="1076"/>
        <pc:sldMkLst>
          <pc:docMk/>
          <pc:sldMk cId="684907484" sldId="261"/>
        </pc:sldMkLst>
        <pc:spChg chg="add mod">
          <ac:chgData name="Fizza Maira" userId="d0a25a6f-4008-4c86-8740-27856525f3e1" providerId="ADAL" clId="{A44FACB3-3A32-418A-B1D8-F602B668736A}" dt="2026-08-06T07:11:25.705" v="519" actId="1076"/>
          <ac:spMkLst>
            <pc:docMk/>
            <pc:sldMk cId="684907484" sldId="261"/>
            <ac:spMk id="3" creationId="{F6631922-EDA2-CA93-9A0A-C814D5C410DE}"/>
          </ac:spMkLst>
        </pc:spChg>
        <pc:spChg chg="add mod">
          <ac:chgData name="Fizza Maira" userId="d0a25a6f-4008-4c86-8740-27856525f3e1" providerId="ADAL" clId="{A44FACB3-3A32-418A-B1D8-F602B668736A}" dt="2026-08-06T07:10:54.305" v="515"/>
          <ac:spMkLst>
            <pc:docMk/>
            <pc:sldMk cId="684907484" sldId="261"/>
            <ac:spMk id="5" creationId="{BC92D5CD-CEED-CAF9-8E1C-650675A313C3}"/>
          </ac:spMkLst>
        </pc:spChg>
      </pc:sldChg>
      <pc:sldChg chg="addSp modSp new mod">
        <pc:chgData name="Fizza Maira" userId="d0a25a6f-4008-4c86-8740-27856525f3e1" providerId="ADAL" clId="{A44FACB3-3A32-418A-B1D8-F602B668736A}" dt="2026-08-06T07:12:09.100" v="557" actId="1076"/>
        <pc:sldMkLst>
          <pc:docMk/>
          <pc:sldMk cId="2040043498" sldId="262"/>
        </pc:sldMkLst>
        <pc:spChg chg="add mod">
          <ac:chgData name="Fizza Maira" userId="d0a25a6f-4008-4c86-8740-27856525f3e1" providerId="ADAL" clId="{A44FACB3-3A32-418A-B1D8-F602B668736A}" dt="2026-08-06T07:12:09.100" v="557" actId="1076"/>
          <ac:spMkLst>
            <pc:docMk/>
            <pc:sldMk cId="2040043498" sldId="262"/>
            <ac:spMk id="3" creationId="{158013A2-70CA-8E35-F3F3-F40CD428166B}"/>
          </ac:spMkLst>
        </pc:spChg>
        <pc:spChg chg="add mod">
          <ac:chgData name="Fizza Maira" userId="d0a25a6f-4008-4c86-8740-27856525f3e1" providerId="ADAL" clId="{A44FACB3-3A32-418A-B1D8-F602B668736A}" dt="2026-08-06T07:11:53.354" v="555"/>
          <ac:spMkLst>
            <pc:docMk/>
            <pc:sldMk cId="2040043498" sldId="262"/>
            <ac:spMk id="5" creationId="{688822D8-D529-2998-D46B-41BB9F87B091}"/>
          </ac:spMkLst>
        </pc:spChg>
      </pc:sldChg>
      <pc:sldChg chg="addSp modSp new mod">
        <pc:chgData name="Fizza Maira" userId="d0a25a6f-4008-4c86-8740-27856525f3e1" providerId="ADAL" clId="{A44FACB3-3A32-418A-B1D8-F602B668736A}" dt="2026-08-06T07:13:10.115" v="595" actId="1076"/>
        <pc:sldMkLst>
          <pc:docMk/>
          <pc:sldMk cId="3937486198" sldId="263"/>
        </pc:sldMkLst>
        <pc:spChg chg="add mod">
          <ac:chgData name="Fizza Maira" userId="d0a25a6f-4008-4c86-8740-27856525f3e1" providerId="ADAL" clId="{A44FACB3-3A32-418A-B1D8-F602B668736A}" dt="2026-08-06T07:13:10.115" v="595" actId="1076"/>
          <ac:spMkLst>
            <pc:docMk/>
            <pc:sldMk cId="3937486198" sldId="263"/>
            <ac:spMk id="3" creationId="{460254CD-0903-966C-40EF-C5EBA490158C}"/>
          </ac:spMkLst>
        </pc:spChg>
        <pc:spChg chg="add mod">
          <ac:chgData name="Fizza Maira" userId="d0a25a6f-4008-4c86-8740-27856525f3e1" providerId="ADAL" clId="{A44FACB3-3A32-418A-B1D8-F602B668736A}" dt="2026-08-06T07:12:49.659" v="592"/>
          <ac:spMkLst>
            <pc:docMk/>
            <pc:sldMk cId="3937486198" sldId="263"/>
            <ac:spMk id="5" creationId="{7FE4D497-87C5-39D6-FAF0-4FE272E0E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Opening: This is a focused Wikipedia question-answering prototype. I will focus on the value it is designed to create, what the initial evidence actually supports, and what would need to be true before a production decision.</a:t>
            </a: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The solution combines a local Wikipedia corpus, hybrid retrieval, and language-model generation. It offers both a simpler history-aware retriever and a more adaptive planner-based agent. In one small five-question graph-search run, the agent passed one more question but used about 4.4 times as many tokens and 3.1 times the latency. This is an early signal, not a stable estimate of product quality or cost. The current implementation also has conversation-sanitization gaps and does not establish claim-level citation correctness. I recommend framing this as a research prototype and validating the remaining gates before deployment decisions.</a:t>
            </a: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Representative behavior from a logged Checkpoint 7.1 Context-Aware evaluation record (cost-run CSV dated 2026-10-06). The test asks: “What is the current population of Mars according to the Wikipedia sources available to this retrieval system?” The record’s response is: “The information is unavailable in the retrieved Wikipedia excerpts.” The RAGAS DiscreteMetric judge recorded PASS against the grading note requiring abstention when the corpus did not contain the fact. This demonstrates a desirable out-of-corpus behavior in one recorded case; it is not a claim that the system always abstains correctly. The intermediate evidence box summarizes the response’s stated basis, not a verbatim retrieval trace or citation list. The executive value hypothesis remains that the system could reduce manual synthesis effort; that benefit still needs to be measured in a representative pilot.</a:t>
            </a: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architecture has three executive-level stages. First, an offline preparation process turns about 2,400 Wikipedia HTML articles into normalized chunks and lexical, semantic, and graph indexes. Second, the operator chooses either the simpler Context-Aware retriever or the Agentic Dynamic LangGraph workflow; there is not an automatic per-question router between these modes. Hybrid retrieval combines BM25 exact-term matching with vector semantic similarity. Optional graph expansion adds neighboring article context. For each agent step, the planner chooses the next action: retrieve (including one to three new queries), expand graph context, ask a clarification, or answer. The loop continues until answer or a retrieval/graph iteration limit. Third, the answer model receives retrieved passages as context. Hardening is optional in the implementation and includes sanitization plus tagged prompts, but does not close every conversation input gap. Evaluation is an offline harness that records judge outcomes; it is not live production observability.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a single five-question graph-search run from the Checkpoint 7.1 model-ladder log, with GPT-5.4-mini. Context-Aware passed 4/5 questions using 9.1K tokens and 9.65 seconds. Agentic Dynamic passed 5/5 using 40.4K tokens and 29.63 seconds. That is one additional pass in this sample, with roughly 4.4 times the tokens and 3.1 times the latency. RAGAS DiscreteMetric is a binary LLM-judge result against grading notes; it does not isolate retrieval recall or prove citation fidelity. The sample is too small for generalization. The reported estimated model-cost total excludes judge and embedding usage, so it is not an all-in cost estimate. Use this slide to discuss a testable trade-off, not to claim measured business value or production quality.</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current menu lets an operator choose the Context-Aware retriever or the Agentic Dynamic planner. It does not automatically route each question to the best engine. Context-Aware conditions retrieval on chat history and uses a simpler path. Agentic Dynamic can re-plan, make one-to-three retrieval queries, expand linked graph context, ask for clarification, or answer. The agent may be useful on multi-part questions, but the small experiment showed a meaningful token and latency cost increase. An eventual routing policy should be based on representative quality and all-in cost evidence, not assumed from the architecture.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There are three decision-relevant gates. First, close the conversation-safety gap: in the Agentic path, prior chat turns and clarification replies are not sanitized, while filters only cover known patterns. Clarification actions also do not consume the retrieval/graph iteration counter, so the implementation should explicitly bound clarifications. Second, the existing binary LLM judge compares responses with grading notes; it does not independently establish retrieval recall, factual support for each claim, or citation fidelity. Third, the current comparison is a manually authored five-question diagnostic sample, and its cost estimate excludes judge and embedding usage. A larger paired benchmark should report end-to-end cost and latency and test representative query types. None of these results should be interpreted as production approval.</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Lessons learned: First, adaptive retrieval may find additional useful evidence, but the five-question result does not prove a general quality gain; added calls increase tokens and latency, so compare modes on a larger, representative paired set. Second, a binary LLM judge is a useful screening signal, not proof that every answer claim is supported or citations are faithful; add source-level claim checks and evaluate retrieval separately from generation. Third, safety must cover the full conversational state: sanitizing only the newest question does not protect prior turns or clarification replies, and clarification behavior needs an explicit bound. Recommended next step: agree the validation scope, owners, and measurable success criteria, then harden, verify, and measure before considering a controlled pilot. This is not a launch recommendation.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
          <p:cNvPicPr preferRelativeResize="0"/>
          <p:nvPr/>
        </p:nvPicPr>
        <p:blipFill rotWithShape="1">
          <a:blip r:embed="rId3">
            <a:alphaModFix/>
          </a:blip>
          <a:srcRect/>
          <a:stretch/>
        </p:blipFill>
        <p:spPr>
          <a:xfrm>
            <a:off x="0" y="4419600"/>
            <a:ext cx="12192000" cy="2438400"/>
          </a:xfrm>
          <a:prstGeom prst="rect">
            <a:avLst/>
          </a:prstGeom>
          <a:noFill/>
          <a:ln>
            <a:noFill/>
          </a:ln>
        </p:spPr>
      </p:pic>
      <p:pic>
        <p:nvPicPr>
          <p:cNvPr id="18" name="Google Shape;18;p5"/>
          <p:cNvPicPr preferRelativeResize="0"/>
          <p:nvPr/>
        </p:nvPicPr>
        <p:blipFill rotWithShape="1">
          <a:blip r:embed="rId4">
            <a:alphaModFix/>
          </a:blip>
          <a:srcRect/>
          <a:stretch/>
        </p:blipFill>
        <p:spPr>
          <a:xfrm>
            <a:off x="9830830" y="3686830"/>
            <a:ext cx="1905000" cy="5223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9"/>
        <p:cNvGrpSpPr/>
        <p:nvPr/>
      </p:nvGrpSpPr>
      <p:grpSpPr>
        <a:xfrm>
          <a:off x="0" y="0"/>
          <a:ext cx="0" cy="0"/>
          <a:chOff x="0" y="0"/>
          <a:chExt cx="0" cy="0"/>
        </a:xfrm>
      </p:grpSpPr>
      <p:pic>
        <p:nvPicPr>
          <p:cNvPr id="20" name="Google Shape;20;p6"/>
          <p:cNvPicPr preferRelativeResize="0"/>
          <p:nvPr/>
        </p:nvPicPr>
        <p:blipFill rotWithShape="1">
          <a:blip r:embed="rId2">
            <a:alphaModFix/>
          </a:blip>
          <a:srcRect/>
          <a:stretch/>
        </p:blipFill>
        <p:spPr>
          <a:xfrm>
            <a:off x="10797369" y="6362197"/>
            <a:ext cx="960461" cy="372478"/>
          </a:xfrm>
          <a:prstGeom prst="rect">
            <a:avLst/>
          </a:prstGeom>
          <a:noFill/>
          <a:ln>
            <a:noFill/>
          </a:ln>
        </p:spPr>
      </p:pic>
      <p:pic>
        <p:nvPicPr>
          <p:cNvPr id="21" name="Google Shape;21;p6"/>
          <p:cNvPicPr preferRelativeResize="0"/>
          <p:nvPr/>
        </p:nvPicPr>
        <p:blipFill rotWithShape="1">
          <a:blip r:embed="rId3">
            <a:alphaModFix/>
          </a:blip>
          <a:srcRect/>
          <a:stretch/>
        </p:blipFill>
        <p:spPr>
          <a:xfrm>
            <a:off x="0" y="0"/>
            <a:ext cx="12192000" cy="7143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22"/>
        <p:cNvGrpSpPr/>
        <p:nvPr/>
      </p:nvGrpSpPr>
      <p:grpSpPr>
        <a:xfrm>
          <a:off x="0" y="0"/>
          <a:ext cx="0" cy="0"/>
          <a:chOff x="0" y="0"/>
          <a:chExt cx="0" cy="0"/>
        </a:xfrm>
      </p:grpSpPr>
      <p:pic>
        <p:nvPicPr>
          <p:cNvPr id="23" name="Google Shape;23;p7"/>
          <p:cNvPicPr preferRelativeResize="0"/>
          <p:nvPr/>
        </p:nvPicPr>
        <p:blipFill rotWithShape="1">
          <a:blip r:embed="rId2">
            <a:alphaModFix amt="5000"/>
          </a:blip>
          <a:srcRect/>
          <a:stretch/>
        </p:blipFill>
        <p:spPr>
          <a:xfrm>
            <a:off x="3976469" y="2607021"/>
            <a:ext cx="4239062" cy="164395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a:spLocks noGrp="1"/>
          </p:cNvSpPr>
          <p:nvPr>
            <p:ph type="pic" idx="2"/>
          </p:nvPr>
        </p:nvSpPr>
        <p:spPr>
          <a:xfrm>
            <a:off x="5183188" y="987425"/>
            <a:ext cx="6172200" cy="4873625"/>
          </a:xfrm>
          <a:prstGeom prst="rect">
            <a:avLst/>
          </a:prstGeom>
          <a:noFill/>
          <a:ln>
            <a:noFill/>
          </a:ln>
        </p:spPr>
      </p:sp>
      <p:sp>
        <p:nvSpPr>
          <p:cNvPr id="74" name="Google Shape;7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3"/>
        <p:cNvGrpSpPr/>
        <p:nvPr/>
      </p:nvGrpSpPr>
      <p:grpSpPr>
        <a:xfrm>
          <a:off x="0" y="0"/>
          <a:ext cx="0" cy="0"/>
          <a:chOff x="0" y="0"/>
          <a:chExt cx="0" cy="0"/>
        </a:xfrm>
      </p:grpSpPr>
      <p:sp>
        <p:nvSpPr>
          <p:cNvPr id="94" name="Google Shape;94;p1"/>
          <p:cNvSpPr txBox="1"/>
          <p:nvPr/>
        </p:nvSpPr>
        <p:spPr>
          <a:xfrm>
            <a:off x="261257" y="5321712"/>
            <a:ext cx="10896599" cy="523200"/>
          </a:xfrm>
          <a:prstGeom prst="rect">
            <a:avLst/>
          </a:prstGeom>
          <a:noFill/>
          <a:ln>
            <a:noFill/>
          </a:ln>
        </p:spPr>
        <p:txBody>
          <a:bodyPr spcFirstLastPara="1" wrap="none" lIns="25400" tIns="0" rIns="25400" bIns="0" anchor="ctr" anchorCtr="0">
            <a:noAutofit/>
          </a:bodyPr>
          <a:lstStyle/>
          <a:p>
            <a:pPr algn="ctr"/>
            <a:r>
              <a:rPr sz="2600" b="1">
                <a:solidFill>
                  <a:srgbClr val="FFFFFF"/>
                </a:solidFill>
                <a:latin typeface="Georgia"/>
              </a:rPr>
              <a:t>Capstone 8.1  |  Grounded Answers, Clear Trade-offs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Executive takeaway</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1328"/>
            <a:ext cx="10789920" cy="667512"/>
          </a:xfrm>
          <a:prstGeom prst="rect">
            <a:avLst/>
          </a:prstGeom>
          <a:noFill/>
        </p:spPr>
        <p:txBody>
          <a:bodyPr wrap="square" lIns="18288" rIns="18288" tIns="18288" bIns="18288" anchor="t">
            <a:spAutoFit/>
          </a:bodyPr>
          <a:lstStyle/>
          <a:p>
            <a:pPr algn="l">
              <a:spcBef>
                <a:spcPts val="0"/>
              </a:spcBef>
              <a:spcAft>
                <a:spcPts val="0"/>
              </a:spcAft>
            </a:pPr>
            <a:r>
              <a:rPr sz="1900" b="1">
                <a:solidFill>
                  <a:srgbClr val="19324A"/>
                </a:solidFill>
                <a:latin typeface="Aptos"/>
              </a:rPr>
              <a:t>A focused RAG prototype turns a curated knowledge base into evidence-conditioned answers. Early results suggest a quality–cost trade-off—not production readiness.</a:t>
            </a:r>
          </a:p>
        </p:txBody>
      </p:sp>
      <p:sp>
        <p:nvSpPr>
          <p:cNvPr id="6" name="Rounded Rectangle 5"/>
          <p:cNvSpPr/>
          <p:nvPr/>
        </p:nvSpPr>
        <p:spPr>
          <a:xfrm>
            <a:off x="658368" y="2395728"/>
            <a:ext cx="3502152" cy="265176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395728"/>
            <a:ext cx="82296" cy="265176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WORKING FOUNDATION</a:t>
            </a:r>
          </a:p>
        </p:txBody>
      </p:sp>
      <p:sp>
        <p:nvSpPr>
          <p:cNvPr id="9" name="TextBox 8"/>
          <p:cNvSpPr txBox="1"/>
          <p:nvPr/>
        </p:nvSpPr>
        <p:spPr>
          <a:xfrm>
            <a:off x="859536"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About 2,400 Wikipedia articles are indexed for lexical, semantic, and graph-assisted retrieval. Answers are generated using retrieved passages as context.</a:t>
            </a:r>
          </a:p>
        </p:txBody>
      </p:sp>
      <p:sp>
        <p:nvSpPr>
          <p:cNvPr id="10" name="Rounded Rectangle 9"/>
          <p:cNvSpPr/>
          <p:nvPr/>
        </p:nvSpPr>
        <p:spPr>
          <a:xfrm>
            <a:off x="4343400" y="2395728"/>
            <a:ext cx="3502152" cy="2651760"/>
          </a:xfrm>
          <a:prstGeom prst="roundRect">
            <a:avLst/>
          </a:prstGeom>
          <a:solidFill>
            <a:srgbClr val="EDF7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395728"/>
            <a:ext cx="82296" cy="265176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EARLY QUALITY SIGNAL</a:t>
            </a:r>
          </a:p>
        </p:txBody>
      </p:sp>
      <p:sp>
        <p:nvSpPr>
          <p:cNvPr id="13" name="TextBox 12"/>
          <p:cNvSpPr txBox="1"/>
          <p:nvPr/>
        </p:nvSpPr>
        <p:spPr>
          <a:xfrm>
            <a:off x="4544568"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In a historical Checkpoint 7.1 five-question run, the adaptive agent passed 5/5 versus 4/5 for the simpler path. Directional evidence only.</a:t>
            </a:r>
          </a:p>
        </p:txBody>
      </p:sp>
      <p:sp>
        <p:nvSpPr>
          <p:cNvPr id="14" name="Rounded Rectangle 13"/>
          <p:cNvSpPr/>
          <p:nvPr/>
        </p:nvSpPr>
        <p:spPr>
          <a:xfrm>
            <a:off x="8028431" y="2395728"/>
            <a:ext cx="3502152" cy="2651760"/>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28431" y="2395728"/>
            <a:ext cx="82296" cy="265176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NOT READY TO SHIP</a:t>
            </a:r>
          </a:p>
        </p:txBody>
      </p:sp>
      <p:sp>
        <p:nvSpPr>
          <p:cNvPr id="17" name="TextBox 16"/>
          <p:cNvSpPr txBox="1"/>
          <p:nvPr/>
        </p:nvSpPr>
        <p:spPr>
          <a:xfrm>
            <a:off x="8229600"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Conversation-safety gaps and limited answer/evidence testing remain. The right next step is gated validation, not a production launch.</a:t>
            </a:r>
          </a:p>
        </p:txBody>
      </p:sp>
      <p:sp>
        <p:nvSpPr>
          <p:cNvPr id="18" name="Rounded Rectangle 17"/>
          <p:cNvSpPr/>
          <p:nvPr/>
        </p:nvSpPr>
        <p:spPr>
          <a:xfrm>
            <a:off x="658368" y="5413248"/>
            <a:ext cx="10872216" cy="603504"/>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596128"/>
            <a:ext cx="137160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E6B8C0"/>
                </a:solidFill>
                <a:latin typeface="Aptos"/>
              </a:rPr>
              <a:t>Executive lens</a:t>
            </a:r>
          </a:p>
        </p:txBody>
      </p:sp>
      <p:sp>
        <p:nvSpPr>
          <p:cNvPr id="20" name="TextBox 19"/>
          <p:cNvSpPr txBox="1"/>
          <p:nvPr/>
        </p:nvSpPr>
        <p:spPr>
          <a:xfrm>
            <a:off x="2286000" y="5568696"/>
            <a:ext cx="8869680" cy="274320"/>
          </a:xfrm>
          <a:prstGeom prst="rect">
            <a:avLst/>
          </a:prstGeom>
          <a:noFill/>
        </p:spPr>
        <p:txBody>
          <a:bodyPr wrap="square" lIns="18288" rIns="18288" tIns="18288" bIns="18288" anchor="t">
            <a:spAutoFit/>
          </a:bodyPr>
          <a:lstStyle/>
          <a:p>
            <a:pPr algn="l">
              <a:spcBef>
                <a:spcPts val="0"/>
              </a:spcBef>
              <a:spcAft>
                <a:spcPts val="0"/>
              </a:spcAft>
            </a:pPr>
            <a:r>
              <a:rPr sz="1500" b="1">
                <a:solidFill>
                  <a:srgbClr val="FFFFFF"/>
                </a:solidFill>
                <a:latin typeface="Aptos"/>
              </a:rPr>
              <a:t>Potentially less manual synthesis; benefit and risk reduction still need to be measured.</a:t>
            </a:r>
          </a:p>
        </p:txBody>
      </p:sp>
      <p:sp>
        <p:nvSpPr>
          <p:cNvPr id="21" name="TextBox 20"/>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2" name="TextBox 21"/>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The opportunity: turn article search into grounded synthesis</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44752"/>
            <a:ext cx="10789920" cy="502920"/>
          </a:xfrm>
          <a:prstGeom prst="rect">
            <a:avLst/>
          </a:prstGeom>
          <a:noFill/>
        </p:spPr>
        <p:txBody>
          <a:bodyPr wrap="square" lIns="18288" rIns="18288" tIns="18288" bIns="18288" anchor="t">
            <a:spAutoFit/>
          </a:bodyPr>
          <a:lstStyle/>
          <a:p>
            <a:r>
              <a:rPr sz="1700" b="1">
                <a:solidFill>
                  <a:srgbClr val="19324A"/>
                </a:solidFill>
                <a:latin typeface="Aptos"/>
              </a:rPr>
              <a:t>Intended use: conversational factual Q&amp;A across a curated Wikipedia corpus—not open-web or real-time answers.</a:t>
            </a:r>
          </a:p>
        </p:txBody>
      </p:sp>
      <p:sp>
        <p:nvSpPr>
          <p:cNvPr id="6" name="Rounded Rectangle 5"/>
          <p:cNvSpPr/>
          <p:nvPr/>
        </p:nvSpPr>
        <p:spPr>
          <a:xfrm>
            <a:off x="658368" y="2331720"/>
            <a:ext cx="3063240" cy="214884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331720"/>
            <a:ext cx="82296" cy="214884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532888"/>
            <a:ext cx="2697480"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TODAY: MANUAL SEARCH</a:t>
            </a:r>
          </a:p>
        </p:txBody>
      </p:sp>
      <p:sp>
        <p:nvSpPr>
          <p:cNvPr id="9" name="TextBox 8"/>
          <p:cNvSpPr txBox="1"/>
          <p:nvPr/>
        </p:nvSpPr>
        <p:spPr>
          <a:xfrm>
            <a:off x="859536" y="3090672"/>
            <a:ext cx="2697480"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Find relevant articles
Compare facts across pages
Check whether a claim is supported</a:t>
            </a:r>
          </a:p>
        </p:txBody>
      </p:sp>
      <p:cxnSp>
        <p:nvCxnSpPr>
          <p:cNvPr id="10" name="Connector 9"/>
          <p:cNvCxnSpPr/>
          <p:nvPr/>
        </p:nvCxnSpPr>
        <p:spPr>
          <a:xfrm>
            <a:off x="3822191" y="3401568"/>
            <a:ext cx="438913"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89120" y="2331720"/>
            <a:ext cx="3401568" cy="2148840"/>
          </a:xfrm>
          <a:prstGeom prst="roundRect">
            <a:avLst/>
          </a:prstGeom>
          <a:solidFill>
            <a:srgbClr val="EDF7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331720"/>
            <a:ext cx="82296" cy="214884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532888"/>
            <a:ext cx="3035808"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PROTOTYPE: RETRIEVE + SYNTHESIZE</a:t>
            </a:r>
          </a:p>
        </p:txBody>
      </p:sp>
      <p:sp>
        <p:nvSpPr>
          <p:cNvPr id="14" name="TextBox 13"/>
          <p:cNvSpPr txBox="1"/>
          <p:nvPr/>
        </p:nvSpPr>
        <p:spPr>
          <a:xfrm>
            <a:off x="4590288" y="3090672"/>
            <a:ext cx="3035808"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Search by exact terms and meaning; optionally expand to linked context; generate from the passages found.</a:t>
            </a:r>
          </a:p>
        </p:txBody>
      </p:sp>
      <p:cxnSp>
        <p:nvCxnSpPr>
          <p:cNvPr id="15" name="Connector 14"/>
          <p:cNvCxnSpPr/>
          <p:nvPr/>
        </p:nvCxnSpPr>
        <p:spPr>
          <a:xfrm>
            <a:off x="7918704" y="3401568"/>
            <a:ext cx="438912"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85632" y="2331720"/>
            <a:ext cx="3044952" cy="2148840"/>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85632" y="2331720"/>
            <a:ext cx="82296" cy="214884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2532888"/>
            <a:ext cx="26791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TARGET: GROUNDED RESPONSE</a:t>
            </a:r>
          </a:p>
        </p:txBody>
      </p:sp>
      <p:sp>
        <p:nvSpPr>
          <p:cNvPr id="19" name="TextBox 18"/>
          <p:cNvSpPr txBox="1"/>
          <p:nvPr/>
        </p:nvSpPr>
        <p:spPr>
          <a:xfrm>
            <a:off x="8686800" y="3090672"/>
            <a:ext cx="2679192"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A concise answer shaped by retrieved evidence and conversation context.</a:t>
            </a:r>
          </a:p>
        </p:txBody>
      </p:sp>
      <p:sp>
        <p:nvSpPr>
          <p:cNvPr id="23" name="TextBox 22"/>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4" name="TextBox 23"/>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03</a:t>
            </a:r>
          </a:p>
        </p:txBody>
      </p:sp>
      <p:sp>
        <p:nvSpPr>
          <p:cNvPr id="25" name="Rounded Rectangle 24"/>
          <p:cNvSpPr/>
          <p:nvPr/>
        </p:nvSpPr>
        <p:spPr>
          <a:xfrm>
            <a:off x="658368" y="4882896"/>
            <a:ext cx="10872216" cy="1088136"/>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965192"/>
            <a:ext cx="4206240" cy="201168"/>
          </a:xfrm>
          <a:prstGeom prst="rect">
            <a:avLst/>
          </a:prstGeom>
          <a:noFill/>
        </p:spPr>
        <p:txBody>
          <a:bodyPr wrap="square" anchor="ctr" lIns="54864" rIns="54864" tIns="18288" bIns="18288">
            <a:spAutoFit/>
          </a:bodyPr>
          <a:lstStyle/>
          <a:p>
            <a:pPr algn="l">
              <a:spcBef>
                <a:spcPts val="0"/>
              </a:spcBef>
              <a:spcAft>
                <a:spcPts val="0"/>
              </a:spcAft>
            </a:pPr>
            <a:r>
              <a:rPr sz="900" b="1">
                <a:solidFill>
                  <a:srgbClr val="A31F34"/>
                </a:solidFill>
                <a:latin typeface="Aptos"/>
              </a:rPr>
              <a:t>REPRESENTATIVE EVALUATION TRACE</a:t>
            </a:r>
          </a:p>
        </p:txBody>
      </p:sp>
      <p:sp>
        <p:nvSpPr>
          <p:cNvPr id="27" name="TextBox 26"/>
          <p:cNvSpPr txBox="1"/>
          <p:nvPr/>
        </p:nvSpPr>
        <p:spPr>
          <a:xfrm>
            <a:off x="6583680" y="4965192"/>
            <a:ext cx="4663440" cy="201168"/>
          </a:xfrm>
          <a:prstGeom prst="rect">
            <a:avLst/>
          </a:prstGeom>
          <a:noFill/>
        </p:spPr>
        <p:txBody>
          <a:bodyPr wrap="square" anchor="ctr" lIns="54864" rIns="54864" tIns="18288" bIns="18288">
            <a:spAutoFit/>
          </a:bodyPr>
          <a:lstStyle/>
          <a:p>
            <a:pPr algn="r">
              <a:spcBef>
                <a:spcPts val="0"/>
              </a:spcBef>
              <a:spcAft>
                <a:spcPts val="0"/>
              </a:spcAft>
            </a:pPr>
            <a:r>
              <a:rPr sz="900" b="1">
                <a:solidFill>
                  <a:srgbClr val="62778A"/>
                </a:solidFill>
                <a:latin typeface="Aptos"/>
              </a:rPr>
              <a:t>Logged Checkpoint 7.1 Context-Aware run  •  judged PASS</a:t>
            </a:r>
          </a:p>
        </p:txBody>
      </p:sp>
      <p:sp>
        <p:nvSpPr>
          <p:cNvPr id="28" name="Rounded Rectangle 27"/>
          <p:cNvSpPr/>
          <p:nvPr/>
        </p:nvSpPr>
        <p:spPr>
          <a:xfrm>
            <a:off x="859536" y="5276088"/>
            <a:ext cx="2267712"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294376"/>
            <a:ext cx="2121408"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4683C5"/>
                </a:solidFill>
                <a:latin typeface="Aptos"/>
              </a:rPr>
              <a:t>QUESTION</a:t>
            </a:r>
          </a:p>
        </p:txBody>
      </p:sp>
      <p:sp>
        <p:nvSpPr>
          <p:cNvPr id="30" name="TextBox 29"/>
          <p:cNvSpPr txBox="1"/>
          <p:nvPr/>
        </p:nvSpPr>
        <p:spPr>
          <a:xfrm>
            <a:off x="932688" y="5431536"/>
            <a:ext cx="2121408"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What is the current population of Mars?</a:t>
            </a:r>
          </a:p>
        </p:txBody>
      </p:sp>
      <p:sp>
        <p:nvSpPr>
          <p:cNvPr id="31" name="Rounded Rectangle 30"/>
          <p:cNvSpPr/>
          <p:nvPr/>
        </p:nvSpPr>
        <p:spPr>
          <a:xfrm>
            <a:off x="3493008" y="5276088"/>
            <a:ext cx="2084831"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5294376"/>
            <a:ext cx="1938527"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168A83"/>
                </a:solidFill>
                <a:latin typeface="Aptos"/>
              </a:rPr>
              <a:t>RETRIEVED EVIDENCE</a:t>
            </a:r>
          </a:p>
        </p:txBody>
      </p:sp>
      <p:sp>
        <p:nvSpPr>
          <p:cNvPr id="33" name="TextBox 32"/>
          <p:cNvSpPr txBox="1"/>
          <p:nvPr/>
        </p:nvSpPr>
        <p:spPr>
          <a:xfrm>
            <a:off x="3566160" y="5431536"/>
            <a:ext cx="1938527"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No supporting population information in the retrieved excerpts.</a:t>
            </a:r>
          </a:p>
        </p:txBody>
      </p:sp>
      <p:sp>
        <p:nvSpPr>
          <p:cNvPr id="34" name="Rounded Rectangle 33"/>
          <p:cNvSpPr/>
          <p:nvPr/>
        </p:nvSpPr>
        <p:spPr>
          <a:xfrm>
            <a:off x="5925312" y="5276088"/>
            <a:ext cx="3163824"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294376"/>
            <a:ext cx="3017520"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A31F34"/>
                </a:solidFill>
                <a:latin typeface="Aptos"/>
              </a:rPr>
              <a:t>SYSTEM RESPONSE</a:t>
            </a:r>
          </a:p>
        </p:txBody>
      </p:sp>
      <p:sp>
        <p:nvSpPr>
          <p:cNvPr id="36" name="TextBox 35"/>
          <p:cNvSpPr txBox="1"/>
          <p:nvPr/>
        </p:nvSpPr>
        <p:spPr>
          <a:xfrm>
            <a:off x="5998464" y="5431536"/>
            <a:ext cx="3017520"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“The information is unavailable in the retrieved Wikipedia excerpts.”</a:t>
            </a:r>
          </a:p>
        </p:txBody>
      </p:sp>
      <p:sp>
        <p:nvSpPr>
          <p:cNvPr id="37" name="Rounded Rectangle 36"/>
          <p:cNvSpPr/>
          <p:nvPr/>
        </p:nvSpPr>
        <p:spPr>
          <a:xfrm>
            <a:off x="9436608" y="5276088"/>
            <a:ext cx="1856231"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09760" y="5294376"/>
            <a:ext cx="1709928"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7457C8"/>
                </a:solidFill>
                <a:latin typeface="Aptos"/>
              </a:rPr>
              <a:t>EVALUATION</a:t>
            </a:r>
          </a:p>
        </p:txBody>
      </p:sp>
      <p:sp>
        <p:nvSpPr>
          <p:cNvPr id="39" name="TextBox 38"/>
          <p:cNvSpPr txBox="1"/>
          <p:nvPr/>
        </p:nvSpPr>
        <p:spPr>
          <a:xfrm>
            <a:off x="9509760" y="5431536"/>
            <a:ext cx="1709928" cy="310896"/>
          </a:xfrm>
          <a:prstGeom prst="rect">
            <a:avLst/>
          </a:prstGeom>
          <a:noFill/>
        </p:spPr>
        <p:txBody>
          <a:bodyPr wrap="square" anchor="ctr" lIns="54864" rIns="54864" tIns="18288" bIns="18288">
            <a:spAutoFit/>
          </a:bodyPr>
          <a:lstStyle/>
          <a:p>
            <a:pPr algn="ctr">
              <a:spcBef>
                <a:spcPts val="0"/>
              </a:spcBef>
              <a:spcAft>
                <a:spcPts val="0"/>
              </a:spcAft>
            </a:pPr>
            <a:r>
              <a:rPr sz="900" b="1">
                <a:solidFill>
                  <a:srgbClr val="19324A"/>
                </a:solidFill>
                <a:latin typeface="Aptos"/>
              </a:rPr>
              <a:t>PASS</a:t>
            </a:r>
          </a:p>
        </p:txBody>
      </p:sp>
      <p:sp>
        <p:nvSpPr>
          <p:cNvPr id="40" name="TextBox 39"/>
          <p:cNvSpPr txBox="1"/>
          <p:nvPr/>
        </p:nvSpPr>
        <p:spPr>
          <a:xfrm>
            <a:off x="3191256"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
        <p:nvSpPr>
          <p:cNvPr id="41" name="TextBox 40"/>
          <p:cNvSpPr txBox="1"/>
          <p:nvPr/>
        </p:nvSpPr>
        <p:spPr>
          <a:xfrm>
            <a:off x="5660136"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
        <p:nvSpPr>
          <p:cNvPr id="42" name="TextBox 41"/>
          <p:cNvSpPr txBox="1"/>
          <p:nvPr/>
        </p:nvSpPr>
        <p:spPr>
          <a:xfrm>
            <a:off x="9162288"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How the solution works</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17320"/>
            <a:ext cx="10789920" cy="320040"/>
          </a:xfrm>
          <a:prstGeom prst="rect">
            <a:avLst/>
          </a:prstGeom>
          <a:noFill/>
        </p:spPr>
        <p:txBody>
          <a:bodyPr wrap="square" lIns="18288" rIns="18288" tIns="18288" bIns="18288" anchor="t">
            <a:spAutoFit/>
          </a:bodyPr>
          <a:lstStyle/>
          <a:p>
            <a:pPr algn="l">
              <a:spcBef>
                <a:spcPts val="0"/>
              </a:spcBef>
              <a:spcAft>
                <a:spcPts val="0"/>
              </a:spcAft>
            </a:pPr>
            <a:r>
              <a:rPr sz="1600" b="0">
                <a:latin typeface="Aptos"/>
              </a:rPr>
              <a:t>Prepare once. Auto-route chat locally. Evaluate offline.</a:t>
            </a:r>
          </a:p>
        </p:txBody>
      </p:sp>
      <p:sp>
        <p:nvSpPr>
          <p:cNvPr id="6" name="Rounded Rectangle 5"/>
          <p:cNvSpPr/>
          <p:nvPr/>
        </p:nvSpPr>
        <p:spPr>
          <a:xfrm>
            <a:off x="658368" y="1938528"/>
            <a:ext cx="3035808" cy="1993392"/>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82296" cy="1993392"/>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39696"/>
            <a:ext cx="2670048" cy="429768"/>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1  KNOWLEDGE BASE</a:t>
            </a:r>
          </a:p>
        </p:txBody>
      </p:sp>
      <p:sp>
        <p:nvSpPr>
          <p:cNvPr id="9" name="TextBox 8"/>
          <p:cNvSpPr txBox="1"/>
          <p:nvPr/>
        </p:nvSpPr>
        <p:spPr>
          <a:xfrm>
            <a:off x="859536" y="2697480"/>
            <a:ext cx="2670048" cy="1097280"/>
          </a:xfrm>
          <a:prstGeom prst="rect">
            <a:avLst/>
          </a:prstGeom>
          <a:noFill/>
        </p:spPr>
        <p:txBody>
          <a:bodyPr wrap="square" lIns="18288" rIns="18288" tIns="18288" bIns="18288" anchor="t">
            <a:spAutoFit/>
          </a:bodyPr>
          <a:lstStyle/>
          <a:p>
            <a:pPr algn="l">
              <a:spcBef>
                <a:spcPts val="0"/>
              </a:spcBef>
              <a:spcAft>
                <a:spcPts val="0"/>
              </a:spcAft>
            </a:pPr>
            <a:r>
              <a:rPr sz="1400" b="0">
                <a:solidFill>
                  <a:srgbClr val="50677A"/>
                </a:solidFill>
                <a:latin typeface="Aptos"/>
              </a:rPr>
              <a:t>≈2,400 articles
Normalized chunks
BM25 + vector + graph indexes</a:t>
            </a:r>
          </a:p>
        </p:txBody>
      </p:sp>
      <p:cxnSp>
        <p:nvCxnSpPr>
          <p:cNvPr id="10" name="Connector 9"/>
          <p:cNvCxnSpPr/>
          <p:nvPr/>
        </p:nvCxnSpPr>
        <p:spPr>
          <a:xfrm>
            <a:off x="3767328" y="2926080"/>
            <a:ext cx="365759"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51960" y="1938528"/>
            <a:ext cx="3730752" cy="199339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938528"/>
            <a:ext cx="82296" cy="1993392"/>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139696"/>
            <a:ext cx="3200400" cy="320040"/>
          </a:xfrm>
          <a:prstGeom prst="rect">
            <a:avLst/>
          </a:prstGeom>
          <a:noFill/>
        </p:spPr>
        <p:txBody>
          <a:bodyPr wrap="square" lIns="18288" rIns="18288" tIns="18288" bIns="18288" anchor="t">
            <a:spAutoFit/>
          </a:bodyPr>
          <a:lstStyle/>
          <a:p>
            <a:pPr algn="l">
              <a:spcBef>
                <a:spcPts val="0"/>
              </a:spcBef>
              <a:spcAft>
                <a:spcPts val="0"/>
              </a:spcAft>
            </a:pPr>
            <a:r>
              <a:rPr sz="1500" b="1">
                <a:latin typeface="Aptos"/>
              </a:rPr>
              <a:t>2  CHAT ROUTING + RETRIEVAL</a:t>
            </a:r>
          </a:p>
        </p:txBody>
      </p:sp>
      <p:sp>
        <p:nvSpPr>
          <p:cNvPr id="14" name="Rounded Rectangle 13"/>
          <p:cNvSpPr/>
          <p:nvPr/>
        </p:nvSpPr>
        <p:spPr>
          <a:xfrm>
            <a:off x="4480560" y="2889504"/>
            <a:ext cx="1481328" cy="758952"/>
          </a:xfrm>
          <a:prstGeom prst="roundRect">
            <a:avLst/>
          </a:prstGeom>
          <a:solidFill>
            <a:srgbClr val="EFF6FF"/>
          </a:solidFill>
          <a:ln w="12700">
            <a:solidFill>
              <a:srgbClr val="D5E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3035808"/>
            <a:ext cx="1280160" cy="219456"/>
          </a:xfrm>
          <a:prstGeom prst="rect">
            <a:avLst/>
          </a:prstGeom>
          <a:noFill/>
        </p:spPr>
        <p:txBody>
          <a:bodyPr wrap="square" lIns="18288" rIns="18288" tIns="18288" bIns="18288" anchor="t">
            <a:spAutoFit/>
          </a:bodyPr>
          <a:lstStyle/>
          <a:p>
            <a:pPr algn="ctr">
              <a:spcBef>
                <a:spcPts val="0"/>
              </a:spcBef>
              <a:spcAft>
                <a:spcPts val="0"/>
              </a:spcAft>
            </a:pPr>
            <a:r>
              <a:rPr sz="1300" b="1">
                <a:solidFill>
                  <a:srgbClr val="19324A"/>
                </a:solidFill>
                <a:latin typeface="Aptos"/>
              </a:rPr>
              <a:t>Context-Aware</a:t>
            </a:r>
          </a:p>
        </p:txBody>
      </p:sp>
      <p:sp>
        <p:nvSpPr>
          <p:cNvPr id="16" name="TextBox 15"/>
          <p:cNvSpPr txBox="1"/>
          <p:nvPr/>
        </p:nvSpPr>
        <p:spPr>
          <a:xfrm>
            <a:off x="4590288" y="3310128"/>
            <a:ext cx="1280160" cy="182880"/>
          </a:xfrm>
          <a:prstGeom prst="rect">
            <a:avLst/>
          </a:prstGeom>
          <a:noFill/>
        </p:spPr>
        <p:txBody>
          <a:bodyPr wrap="square" lIns="18288" rIns="18288" tIns="18288" bIns="18288" anchor="t">
            <a:spAutoFit/>
          </a:bodyPr>
          <a:lstStyle/>
          <a:p>
            <a:pPr algn="ctr">
              <a:spcBef>
                <a:spcPts val="0"/>
              </a:spcBef>
              <a:spcAft>
                <a:spcPts val="0"/>
              </a:spcAft>
            </a:pPr>
            <a:r>
              <a:rPr sz="1000" b="0">
                <a:solidFill>
                  <a:srgbClr val="62778A"/>
                </a:solidFill>
                <a:latin typeface="Aptos"/>
              </a:rPr>
              <a:t>Answer: GPT-4o-mini</a:t>
            </a:r>
          </a:p>
        </p:txBody>
      </p:sp>
      <p:sp>
        <p:nvSpPr>
          <p:cNvPr id="17" name="Rounded Rectangle 16"/>
          <p:cNvSpPr/>
          <p:nvPr/>
        </p:nvSpPr>
        <p:spPr>
          <a:xfrm>
            <a:off x="6190488" y="2889504"/>
            <a:ext cx="1554480" cy="758952"/>
          </a:xfrm>
          <a:prstGeom prst="roundRect">
            <a:avLst/>
          </a:prstGeom>
          <a:solidFill>
            <a:srgbClr val="F4F0FF"/>
          </a:solidFill>
          <a:ln w="12700">
            <a:solidFill>
              <a:srgbClr val="E1D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3035808"/>
            <a:ext cx="1371600" cy="219456"/>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19324A"/>
                </a:solidFill>
                <a:latin typeface="Aptos"/>
              </a:rPr>
              <a:t>Agentic Dynamic</a:t>
            </a:r>
          </a:p>
        </p:txBody>
      </p:sp>
      <p:sp>
        <p:nvSpPr>
          <p:cNvPr id="19" name="TextBox 18"/>
          <p:cNvSpPr txBox="1"/>
          <p:nvPr/>
        </p:nvSpPr>
        <p:spPr>
          <a:xfrm>
            <a:off x="6281928" y="3310128"/>
            <a:ext cx="1371600" cy="182880"/>
          </a:xfrm>
          <a:prstGeom prst="rect">
            <a:avLst/>
          </a:prstGeom>
          <a:noFill/>
        </p:spPr>
        <p:txBody>
          <a:bodyPr wrap="square" lIns="18288" rIns="18288" tIns="18288" bIns="18288" anchor="t">
            <a:spAutoFit/>
          </a:bodyPr>
          <a:lstStyle/>
          <a:p>
            <a:pPr algn="ctr">
              <a:spcBef>
                <a:spcPts val="0"/>
              </a:spcBef>
              <a:spcAft>
                <a:spcPts val="0"/>
              </a:spcAft>
            </a:pPr>
            <a:r>
              <a:rPr sz="1000" b="0">
                <a:solidFill>
                  <a:srgbClr val="62778A"/>
                </a:solidFill>
                <a:latin typeface="Aptos"/>
              </a:rPr>
              <a:t>GPT-5.4-mini</a:t>
            </a:r>
          </a:p>
        </p:txBody>
      </p:sp>
      <p:sp>
        <p:nvSpPr>
          <p:cNvPr id="20" name="TextBox 19"/>
          <p:cNvSpPr txBox="1"/>
          <p:nvPr/>
        </p:nvSpPr>
        <p:spPr>
          <a:xfrm>
            <a:off x="4489704" y="3694176"/>
            <a:ext cx="3246120" cy="164592"/>
          </a:xfrm>
          <a:prstGeom prst="rect">
            <a:avLst/>
          </a:prstGeom>
          <a:noFill/>
        </p:spPr>
        <p:txBody>
          <a:bodyPr wrap="square" lIns="18288" rIns="18288" tIns="18288" bIns="18288" anchor="t">
            <a:spAutoFit/>
          </a:bodyPr>
          <a:lstStyle/>
          <a:p>
            <a:r>
              <a:rPr sz="850">
                <a:solidFill>
                  <a:srgbClr val="50677A"/>
                </a:solidFill>
                <a:latin typeface="Aptos"/>
              </a:rPr>
              <a:t>Context GPT-4o-mini • Agent plan/answer GPT-5.4-mini</a:t>
            </a:r>
          </a:p>
        </p:txBody>
      </p:sp>
      <p:cxnSp>
        <p:nvCxnSpPr>
          <p:cNvPr id="21" name="Connector 20"/>
          <p:cNvCxnSpPr/>
          <p:nvPr/>
        </p:nvCxnSpPr>
        <p:spPr>
          <a:xfrm>
            <a:off x="8074152" y="2926080"/>
            <a:ext cx="365760"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58784" y="1938528"/>
            <a:ext cx="2971800" cy="1993392"/>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58784" y="1938528"/>
            <a:ext cx="82296" cy="1993392"/>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59952" y="2139696"/>
            <a:ext cx="2606040" cy="429768"/>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3  ANSWER GENERATION</a:t>
            </a:r>
          </a:p>
        </p:txBody>
      </p:sp>
      <p:sp>
        <p:nvSpPr>
          <p:cNvPr id="25" name="TextBox 24"/>
          <p:cNvSpPr txBox="1"/>
          <p:nvPr/>
        </p:nvSpPr>
        <p:spPr>
          <a:xfrm>
            <a:off x="8759952" y="2697480"/>
            <a:ext cx="2606040" cy="109728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The answer model receives retrieved passages as its evidence context.</a:t>
            </a:r>
          </a:p>
        </p:txBody>
      </p:sp>
      <p:sp>
        <p:nvSpPr>
          <p:cNvPr id="26" name="Rounded Rectangle 25"/>
          <p:cNvSpPr/>
          <p:nvPr/>
        </p:nvSpPr>
        <p:spPr>
          <a:xfrm>
            <a:off x="658368" y="4297680"/>
            <a:ext cx="10872216" cy="1234440"/>
          </a:xfrm>
          <a:prstGeom prst="roundRect">
            <a:avLst/>
          </a:prstGeom>
          <a:solidFill>
            <a:srgbClr val="EAF0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498848"/>
            <a:ext cx="5029200" cy="201168"/>
          </a:xfrm>
          <a:prstGeom prst="rect">
            <a:avLst/>
          </a:prstGeom>
          <a:noFill/>
        </p:spPr>
        <p:txBody>
          <a:bodyPr wrap="square" lIns="18288" rIns="18288" tIns="18288" bIns="18288" anchor="t">
            <a:spAutoFit/>
          </a:bodyPr>
          <a:lstStyle/>
          <a:p>
            <a:pPr algn="l">
              <a:spcBef>
                <a:spcPts val="0"/>
              </a:spcBef>
              <a:spcAft>
                <a:spcPts val="0"/>
              </a:spcAft>
            </a:pPr>
            <a:r>
              <a:rPr sz="1000" b="1" spc="80">
                <a:solidFill>
                  <a:srgbClr val="62778A"/>
                </a:solidFill>
                <a:latin typeface="Aptos"/>
              </a:rPr>
              <a:t>CROSS-CUTTING CONTROLS &amp; OFFLINE PROOF</a:t>
            </a:r>
          </a:p>
        </p:txBody>
      </p:sp>
      <p:sp>
        <p:nvSpPr>
          <p:cNvPr id="28" name="TextBox 27"/>
          <p:cNvSpPr txBox="1"/>
          <p:nvPr/>
        </p:nvSpPr>
        <p:spPr>
          <a:xfrm>
            <a:off x="877824" y="4882896"/>
            <a:ext cx="306324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Optional sanitization + tagged prompts</a:t>
            </a:r>
          </a:p>
        </p:txBody>
      </p:sp>
      <p:sp>
        <p:nvSpPr>
          <p:cNvPr id="29" name="TextBox 28"/>
          <p:cNvSpPr txBox="1"/>
          <p:nvPr/>
        </p:nvSpPr>
        <p:spPr>
          <a:xfrm>
            <a:off x="4453128" y="4882896"/>
            <a:ext cx="297180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Question sets → pass/fail judge → logs</a:t>
            </a:r>
          </a:p>
        </p:txBody>
      </p:sp>
      <p:sp>
        <p:nvSpPr>
          <p:cNvPr id="30" name="TextBox 29"/>
          <p:cNvSpPr txBox="1"/>
          <p:nvPr/>
        </p:nvSpPr>
        <p:spPr>
          <a:xfrm>
            <a:off x="7991856" y="4882896"/>
            <a:ext cx="315468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Security, evidence, and scale gates</a:t>
            </a:r>
          </a:p>
        </p:txBody>
      </p:sp>
      <p:sp>
        <p:nvSpPr>
          <p:cNvPr id="31" name="Rounded Rectangle 30"/>
          <p:cNvSpPr/>
          <p:nvPr/>
        </p:nvSpPr>
        <p:spPr>
          <a:xfrm>
            <a:off x="658368" y="5669280"/>
            <a:ext cx="10872216" cy="438912"/>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5797296"/>
            <a:ext cx="10488168" cy="182880"/>
          </a:xfrm>
          <a:prstGeom prst="rect">
            <a:avLst/>
          </a:prstGeom>
          <a:noFill/>
        </p:spPr>
        <p:txBody>
          <a:bodyPr wrap="square" lIns="18288" rIns="18288" tIns="18288" bIns="18288" anchor="t">
            <a:spAutoFit/>
          </a:bodyPr>
          <a:lstStyle/>
          <a:p>
            <a:pPr algn="ctr">
              <a:spcBef>
                <a:spcPts val="0"/>
              </a:spcBef>
              <a:spcAft>
                <a:spcPts val="0"/>
              </a:spcAft>
            </a:pPr>
            <a:r>
              <a:rPr sz="1000" b="1">
                <a:latin typeface="Aptos"/>
              </a:rPr>
              <a:t>Chat: local rules route simple → Context / complex → Agent; evaluation stays explicit.</a:t>
            </a:r>
          </a:p>
        </p:txBody>
      </p:sp>
      <p:sp>
        <p:nvSpPr>
          <p:cNvPr id="33" name="TextBox 32"/>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4" name="TextBox 33"/>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04</a:t>
            </a:r>
          </a:p>
        </p:txBody>
      </p:sp>
      <p:sp>
        <p:nvSpPr>
          <p:cNvPr id="35" name="Rounded Rectangle 34"/>
          <p:cNvSpPr/>
          <p:nvPr/>
        </p:nvSpPr>
        <p:spPr>
          <a:xfrm>
            <a:off x="4480560" y="2542032"/>
            <a:ext cx="3246120" cy="274320"/>
          </a:xfrm>
          <a:prstGeom prst="roundRect">
            <a:avLst/>
          </a:prstGeom>
          <a:solidFill>
            <a:srgbClr val="EAF7F4"/>
          </a:solidFill>
          <a:ln>
            <a:solidFill>
              <a:srgbClr val="D3EBE6"/>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900" b="1">
                <a:solidFill>
                  <a:srgbClr val="16776F"/>
                </a:solidFill>
                <a:latin typeface="Aptos"/>
              </a:rPr>
              <a:t>LOCAL RULES: simple → Context • complex → Agent</a:t>
            </a:r>
          </a:p>
        </p:txBody>
      </p:sp>
    </p:spTree>
    <p:extLst>
      <p:ext uri="{BB962C8B-B14F-4D97-AF65-F5344CB8AC3E}">
        <p14:creationId xmlns:p14="http://schemas.microsoft.com/office/powerpoint/2010/main" val="328922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Early signal: a possible quality–cost trade-off</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35608"/>
            <a:ext cx="10872216" cy="521207"/>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609344"/>
            <a:ext cx="10332720" cy="173736"/>
          </a:xfrm>
          <a:prstGeom prst="rect">
            <a:avLst/>
          </a:prstGeom>
          <a:noFill/>
        </p:spPr>
        <p:txBody>
          <a:bodyPr wrap="square" lIns="18288" rIns="18288" tIns="18288" bIns="18288" anchor="t">
            <a:spAutoFit/>
          </a:bodyPr>
          <a:lstStyle/>
          <a:p>
            <a:pPr algn="ctr">
              <a:spcBef>
                <a:spcPts val="0"/>
              </a:spcBef>
              <a:spcAft>
                <a:spcPts val="0"/>
              </a:spcAft>
            </a:pPr>
            <a:r>
              <a:rPr sz="1100" b="1" spc="45">
                <a:solidFill>
                  <a:srgbClr val="FFFFFF"/>
                </a:solidFill>
                <a:latin typeface="Aptos"/>
              </a:rPr>
              <a:t>HISTORICAL CHECKPOINT 7.1 • FIVE-QUESTION GRAPH RUN • BOTH GPT-5.4-MINI</a:t>
            </a:r>
          </a:p>
        </p:txBody>
      </p:sp>
      <p:sp>
        <p:nvSpPr>
          <p:cNvPr id="7" name="Rounded Rectangle 6"/>
          <p:cNvSpPr/>
          <p:nvPr/>
        </p:nvSpPr>
        <p:spPr>
          <a:xfrm>
            <a:off x="658368" y="2212848"/>
            <a:ext cx="5330952" cy="304495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12848"/>
            <a:ext cx="5330952" cy="100584"/>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05456"/>
            <a:ext cx="4754880" cy="274320"/>
          </a:xfrm>
          <a:prstGeom prst="rect">
            <a:avLst/>
          </a:prstGeom>
          <a:noFill/>
        </p:spPr>
        <p:txBody>
          <a:bodyPr wrap="square" lIns="18288" rIns="18288" tIns="18288" bIns="18288" anchor="t">
            <a:spAutoFit/>
          </a:bodyPr>
          <a:lstStyle/>
          <a:p>
            <a:pPr algn="l">
              <a:spcBef>
                <a:spcPts val="0"/>
              </a:spcBef>
              <a:spcAft>
                <a:spcPts val="0"/>
              </a:spcAft>
            </a:pPr>
            <a:r>
              <a:rPr sz="1300" b="1" spc="60">
                <a:solidFill>
                  <a:srgbClr val="62778A"/>
                </a:solidFill>
                <a:latin typeface="Aptos"/>
              </a:rPr>
              <a:t>CONTEXT-AWARE</a:t>
            </a:r>
          </a:p>
        </p:txBody>
      </p:sp>
      <p:sp>
        <p:nvSpPr>
          <p:cNvPr id="10" name="Rounded Rectangle 9"/>
          <p:cNvSpPr/>
          <p:nvPr/>
        </p:nvSpPr>
        <p:spPr>
          <a:xfrm>
            <a:off x="6199632" y="2212848"/>
            <a:ext cx="5330952" cy="304495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2212848"/>
            <a:ext cx="5330952" cy="100584"/>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505456"/>
            <a:ext cx="4754880" cy="274320"/>
          </a:xfrm>
          <a:prstGeom prst="rect">
            <a:avLst/>
          </a:prstGeom>
          <a:noFill/>
        </p:spPr>
        <p:txBody>
          <a:bodyPr wrap="square" lIns="18288" rIns="18288" tIns="18288" bIns="18288" anchor="t">
            <a:spAutoFit/>
          </a:bodyPr>
          <a:lstStyle/>
          <a:p>
            <a:pPr algn="l">
              <a:spcBef>
                <a:spcPts val="0"/>
              </a:spcBef>
              <a:spcAft>
                <a:spcPts val="0"/>
              </a:spcAft>
            </a:pPr>
            <a:r>
              <a:rPr sz="1300" b="1" spc="60">
                <a:solidFill>
                  <a:srgbClr val="62778A"/>
                </a:solidFill>
                <a:latin typeface="Aptos"/>
              </a:rPr>
              <a:t>AGENTIC DYNAMIC</a:t>
            </a:r>
          </a:p>
        </p:txBody>
      </p:sp>
      <p:sp>
        <p:nvSpPr>
          <p:cNvPr id="13" name="TextBox 12"/>
          <p:cNvSpPr txBox="1"/>
          <p:nvPr/>
        </p:nvSpPr>
        <p:spPr>
          <a:xfrm>
            <a:off x="950976" y="2926080"/>
            <a:ext cx="1874519" cy="640080"/>
          </a:xfrm>
          <a:prstGeom prst="rect">
            <a:avLst/>
          </a:prstGeom>
          <a:noFill/>
        </p:spPr>
        <p:txBody>
          <a:bodyPr wrap="square" lIns="18288" rIns="18288" tIns="18288" bIns="18288" anchor="t">
            <a:spAutoFit/>
          </a:bodyPr>
          <a:lstStyle/>
          <a:p>
            <a:pPr algn="l">
              <a:spcBef>
                <a:spcPts val="0"/>
              </a:spcBef>
              <a:spcAft>
                <a:spcPts val="0"/>
              </a:spcAft>
            </a:pPr>
            <a:r>
              <a:rPr sz="3600" b="1">
                <a:solidFill>
                  <a:srgbClr val="4683C5"/>
                </a:solidFill>
                <a:latin typeface="Aptos Display"/>
              </a:rPr>
              <a:t>4/5</a:t>
            </a:r>
          </a:p>
        </p:txBody>
      </p:sp>
      <p:sp>
        <p:nvSpPr>
          <p:cNvPr id="14" name="TextBox 13"/>
          <p:cNvSpPr txBox="1"/>
          <p:nvPr/>
        </p:nvSpPr>
        <p:spPr>
          <a:xfrm>
            <a:off x="6492240" y="2926080"/>
            <a:ext cx="1874519" cy="640080"/>
          </a:xfrm>
          <a:prstGeom prst="rect">
            <a:avLst/>
          </a:prstGeom>
          <a:noFill/>
        </p:spPr>
        <p:txBody>
          <a:bodyPr wrap="square" lIns="18288" rIns="18288" tIns="18288" bIns="18288" anchor="t">
            <a:spAutoFit/>
          </a:bodyPr>
          <a:lstStyle/>
          <a:p>
            <a:pPr algn="l">
              <a:spcBef>
                <a:spcPts val="0"/>
              </a:spcBef>
              <a:spcAft>
                <a:spcPts val="0"/>
              </a:spcAft>
            </a:pPr>
            <a:r>
              <a:rPr sz="3600" b="1">
                <a:solidFill>
                  <a:srgbClr val="168A83"/>
                </a:solidFill>
                <a:latin typeface="Aptos Display"/>
              </a:rPr>
              <a:t>5/5</a:t>
            </a:r>
          </a:p>
        </p:txBody>
      </p:sp>
      <p:sp>
        <p:nvSpPr>
          <p:cNvPr id="15" name="TextBox 14"/>
          <p:cNvSpPr txBox="1"/>
          <p:nvPr/>
        </p:nvSpPr>
        <p:spPr>
          <a:xfrm>
            <a:off x="2761488" y="3108960"/>
            <a:ext cx="2423160" cy="27432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judge passes</a:t>
            </a:r>
          </a:p>
        </p:txBody>
      </p:sp>
      <p:sp>
        <p:nvSpPr>
          <p:cNvPr id="16" name="TextBox 15"/>
          <p:cNvSpPr txBox="1"/>
          <p:nvPr/>
        </p:nvSpPr>
        <p:spPr>
          <a:xfrm>
            <a:off x="8302752" y="3108960"/>
            <a:ext cx="2423160" cy="27432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judge passes</a:t>
            </a:r>
          </a:p>
        </p:txBody>
      </p:sp>
      <p:sp>
        <p:nvSpPr>
          <p:cNvPr id="17" name="Rectangle 16"/>
          <p:cNvSpPr/>
          <p:nvPr/>
        </p:nvSpPr>
        <p:spPr>
          <a:xfrm>
            <a:off x="950976" y="3703320"/>
            <a:ext cx="4553712" cy="14630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 y="3703320"/>
            <a:ext cx="3639312" cy="146304"/>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703320"/>
            <a:ext cx="4553712" cy="14630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3703320"/>
            <a:ext cx="4553712" cy="146304"/>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4123944"/>
            <a:ext cx="2057400" cy="274320"/>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9.1K tokens</a:t>
            </a:r>
          </a:p>
        </p:txBody>
      </p:sp>
      <p:sp>
        <p:nvSpPr>
          <p:cNvPr id="22" name="TextBox 21"/>
          <p:cNvSpPr txBox="1"/>
          <p:nvPr/>
        </p:nvSpPr>
        <p:spPr>
          <a:xfrm>
            <a:off x="3429000" y="4123944"/>
            <a:ext cx="1874519" cy="274320"/>
          </a:xfrm>
          <a:prstGeom prst="rect">
            <a:avLst/>
          </a:prstGeom>
          <a:noFill/>
        </p:spPr>
        <p:txBody>
          <a:bodyPr wrap="square" lIns="18288" rIns="18288" tIns="18288" bIns="18288" anchor="t">
            <a:spAutoFit/>
          </a:bodyPr>
          <a:lstStyle/>
          <a:p>
            <a:pPr algn="r">
              <a:spcBef>
                <a:spcPts val="0"/>
              </a:spcBef>
              <a:spcAft>
                <a:spcPts val="0"/>
              </a:spcAft>
            </a:pPr>
            <a:r>
              <a:rPr sz="1600" b="1">
                <a:solidFill>
                  <a:srgbClr val="19324A"/>
                </a:solidFill>
                <a:latin typeface="Aptos"/>
              </a:rPr>
              <a:t>9.65 sec</a:t>
            </a:r>
          </a:p>
        </p:txBody>
      </p:sp>
      <p:sp>
        <p:nvSpPr>
          <p:cNvPr id="23" name="TextBox 22"/>
          <p:cNvSpPr txBox="1"/>
          <p:nvPr/>
        </p:nvSpPr>
        <p:spPr>
          <a:xfrm>
            <a:off x="6492240" y="4123944"/>
            <a:ext cx="2194560" cy="274320"/>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40.4K tokens</a:t>
            </a:r>
          </a:p>
        </p:txBody>
      </p:sp>
      <p:sp>
        <p:nvSpPr>
          <p:cNvPr id="24" name="TextBox 23"/>
          <p:cNvSpPr txBox="1"/>
          <p:nvPr/>
        </p:nvSpPr>
        <p:spPr>
          <a:xfrm>
            <a:off x="8924544" y="4123944"/>
            <a:ext cx="2130552" cy="274320"/>
          </a:xfrm>
          <a:prstGeom prst="rect">
            <a:avLst/>
          </a:prstGeom>
          <a:noFill/>
        </p:spPr>
        <p:txBody>
          <a:bodyPr wrap="square" lIns="18288" rIns="18288" tIns="18288" bIns="18288" anchor="t">
            <a:spAutoFit/>
          </a:bodyPr>
          <a:lstStyle/>
          <a:p>
            <a:pPr algn="r">
              <a:spcBef>
                <a:spcPts val="0"/>
              </a:spcBef>
              <a:spcAft>
                <a:spcPts val="0"/>
              </a:spcAft>
            </a:pPr>
            <a:r>
              <a:rPr sz="1600" b="1">
                <a:solidFill>
                  <a:srgbClr val="19324A"/>
                </a:solidFill>
                <a:latin typeface="Aptos"/>
              </a:rPr>
              <a:t>29.63 sec</a:t>
            </a:r>
          </a:p>
        </p:txBody>
      </p:sp>
      <p:sp>
        <p:nvSpPr>
          <p:cNvPr id="25" name="TextBox 24"/>
          <p:cNvSpPr txBox="1"/>
          <p:nvPr/>
        </p:nvSpPr>
        <p:spPr>
          <a:xfrm>
            <a:off x="950976" y="4645152"/>
            <a:ext cx="4553712" cy="228600"/>
          </a:xfrm>
          <a:prstGeom prst="rect">
            <a:avLst/>
          </a:prstGeom>
          <a:noFill/>
        </p:spPr>
        <p:txBody>
          <a:bodyPr wrap="square" lIns="18288" rIns="18288" tIns="18288" bIns="18288" anchor="t">
            <a:spAutoFit/>
          </a:bodyPr>
          <a:lstStyle/>
          <a:p>
            <a:pPr algn="l">
              <a:spcBef>
                <a:spcPts val="0"/>
              </a:spcBef>
              <a:spcAft>
                <a:spcPts val="0"/>
              </a:spcAft>
            </a:pPr>
            <a:r>
              <a:rPr sz="1200" b="0">
                <a:solidFill>
                  <a:srgbClr val="62778A"/>
                </a:solidFill>
                <a:latin typeface="Aptos"/>
              </a:rPr>
              <a:t>80% judged pass</a:t>
            </a:r>
          </a:p>
        </p:txBody>
      </p:sp>
      <p:sp>
        <p:nvSpPr>
          <p:cNvPr id="26" name="TextBox 25"/>
          <p:cNvSpPr txBox="1"/>
          <p:nvPr/>
        </p:nvSpPr>
        <p:spPr>
          <a:xfrm>
            <a:off x="6492240" y="4645152"/>
            <a:ext cx="4553712" cy="228600"/>
          </a:xfrm>
          <a:prstGeom prst="rect">
            <a:avLst/>
          </a:prstGeom>
          <a:noFill/>
        </p:spPr>
        <p:txBody>
          <a:bodyPr wrap="square" lIns="18288" rIns="18288" tIns="18288" bIns="18288" anchor="t">
            <a:spAutoFit/>
          </a:bodyPr>
          <a:lstStyle/>
          <a:p>
            <a:pPr algn="l">
              <a:spcBef>
                <a:spcPts val="0"/>
              </a:spcBef>
              <a:spcAft>
                <a:spcPts val="0"/>
              </a:spcAft>
            </a:pPr>
            <a:r>
              <a:rPr sz="1200" b="0">
                <a:solidFill>
                  <a:srgbClr val="62778A"/>
                </a:solidFill>
                <a:latin typeface="Aptos"/>
              </a:rPr>
              <a:t>100% judged pass</a:t>
            </a:r>
          </a:p>
        </p:txBody>
      </p:sp>
      <p:sp>
        <p:nvSpPr>
          <p:cNvPr id="27" name="Rounded Rectangle 26"/>
          <p:cNvSpPr/>
          <p:nvPr/>
        </p:nvSpPr>
        <p:spPr>
          <a:xfrm>
            <a:off x="658368" y="5458968"/>
            <a:ext cx="10872216" cy="694944"/>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687568"/>
            <a:ext cx="123444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A9680A"/>
                </a:solidFill>
                <a:latin typeface="Aptos"/>
              </a:rPr>
              <a:t>Interpretation</a:t>
            </a:r>
          </a:p>
        </p:txBody>
      </p:sp>
      <p:sp>
        <p:nvSpPr>
          <p:cNvPr id="29" name="TextBox 28"/>
          <p:cNvSpPr txBox="1"/>
          <p:nvPr/>
        </p:nvSpPr>
        <p:spPr>
          <a:xfrm>
            <a:off x="2139696" y="5623560"/>
            <a:ext cx="9052560" cy="347472"/>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Agentic: +1 pass, ~4.4× tokens, ~3.1× latency. n=5 is too small to establish a general performance result.</a:t>
            </a:r>
          </a:p>
        </p:txBody>
      </p:sp>
      <p:sp>
        <p:nvSpPr>
          <p:cNvPr id="30" name="TextBox 29"/>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1" name="TextBox 30"/>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05</a:t>
            </a:r>
          </a:p>
        </p:txBody>
      </p:sp>
    </p:spTree>
    <p:extLst>
      <p:ext uri="{BB962C8B-B14F-4D97-AF65-F5344CB8AC3E}">
        <p14:creationId xmlns:p14="http://schemas.microsoft.com/office/powerpoint/2010/main" val="398715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Choose complexity deliberately</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1328"/>
            <a:ext cx="10789920" cy="384048"/>
          </a:xfrm>
          <a:prstGeom prst="rect">
            <a:avLst/>
          </a:prstGeom>
          <a:noFill/>
        </p:spPr>
        <p:txBody>
          <a:bodyPr wrap="square" lIns="18288" rIns="18288" tIns="18288" bIns="18288" anchor="t">
            <a:spAutoFit/>
          </a:bodyPr>
          <a:lstStyle/>
          <a:p>
            <a:pPr algn="l">
              <a:spcBef>
                <a:spcPts val="0"/>
              </a:spcBef>
              <a:spcAft>
                <a:spcPts val="0"/>
              </a:spcAft>
            </a:pPr>
            <a:r>
              <a:rPr sz="1700" b="0">
                <a:latin typeface="Aptos"/>
              </a:rPr>
              <a:t>Auto chat uses local rules (no classifier LLM call); manual engine selection remains.</a:t>
            </a:r>
          </a:p>
        </p:txBody>
      </p:sp>
      <p:sp>
        <p:nvSpPr>
          <p:cNvPr id="6" name="Rounded Rectangle 5"/>
          <p:cNvSpPr/>
          <p:nvPr/>
        </p:nvSpPr>
        <p:spPr>
          <a:xfrm>
            <a:off x="658368" y="2139696"/>
            <a:ext cx="5321808" cy="278892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139696"/>
            <a:ext cx="82296" cy="278892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340864"/>
            <a:ext cx="4956048"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CONTEXT-AWARE  |  SIMPLER PATH</a:t>
            </a:r>
          </a:p>
        </p:txBody>
      </p:sp>
      <p:sp>
        <p:nvSpPr>
          <p:cNvPr id="9" name="TextBox 8"/>
          <p:cNvSpPr txBox="1"/>
          <p:nvPr/>
        </p:nvSpPr>
        <p:spPr>
          <a:xfrm>
            <a:off x="859536" y="2898648"/>
            <a:ext cx="4956048" cy="1892807"/>
          </a:xfrm>
          <a:prstGeom prst="rect">
            <a:avLst/>
          </a:prstGeom>
          <a:noFill/>
        </p:spPr>
        <p:txBody>
          <a:bodyPr wrap="square" lIns="18288" rIns="18288" tIns="18288" bIns="18288" anchor="t">
            <a:spAutoFit/>
          </a:bodyPr>
          <a:lstStyle/>
          <a:p>
            <a:pPr algn="l">
              <a:spcBef>
                <a:spcPts val="0"/>
              </a:spcBef>
              <a:spcAft>
                <a:spcPts val="0"/>
              </a:spcAft>
            </a:pPr>
            <a:r>
              <a:rPr sz="1500" b="0">
                <a:latin typeface="Aptos"/>
              </a:rPr>
              <a:t>• History-aware retrieval</a:t>
            </a:r>
          </a:p>
          <a:p>
            <a:r>
              <a:rPr sz="1500" b="0">
                <a:latin typeface="Aptos"/>
              </a:rPr>
              <a:t>• Answer model: GPT-4o-mini</a:t>
            </a:r>
          </a:p>
          <a:p>
            <a:r>
              <a:rPr sz="1500" b="0">
                <a:latin typeface="Aptos"/>
              </a:rPr>
              <a:t>• Historical same-model run: lower tokens/latency</a:t>
            </a:r>
          </a:p>
          <a:p/>
          <a:p>
            <a:r>
              <a:rPr sz="1500" b="0">
                <a:latin typeface="Aptos"/>
              </a:rPr>
              <a:t>Best start for straightforward questions.</a:t>
            </a:r>
          </a:p>
        </p:txBody>
      </p:sp>
      <p:sp>
        <p:nvSpPr>
          <p:cNvPr id="10" name="Rounded Rectangle 9"/>
          <p:cNvSpPr/>
          <p:nvPr/>
        </p:nvSpPr>
        <p:spPr>
          <a:xfrm>
            <a:off x="6199632" y="2139696"/>
            <a:ext cx="5330952" cy="2788920"/>
          </a:xfrm>
          <a:prstGeom prst="roundRect">
            <a:avLst/>
          </a:prstGeom>
          <a:solidFill>
            <a:srgbClr val="F4F0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2139696"/>
            <a:ext cx="82296" cy="2788920"/>
          </a:xfrm>
          <a:prstGeom prst="rect">
            <a:avLst/>
          </a:prstGeom>
          <a:solidFill>
            <a:srgbClr val="74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340864"/>
            <a:ext cx="49651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AGENTIC DYNAMIC  |  ADAPTIVE PATH</a:t>
            </a:r>
          </a:p>
        </p:txBody>
      </p:sp>
      <p:sp>
        <p:nvSpPr>
          <p:cNvPr id="13" name="TextBox 12"/>
          <p:cNvSpPr txBox="1"/>
          <p:nvPr/>
        </p:nvSpPr>
        <p:spPr>
          <a:xfrm>
            <a:off x="6400800" y="2898648"/>
            <a:ext cx="4965192" cy="1892807"/>
          </a:xfrm>
          <a:prstGeom prst="rect">
            <a:avLst/>
          </a:prstGeom>
          <a:noFill/>
        </p:spPr>
        <p:txBody>
          <a:bodyPr wrap="square" lIns="18288" rIns="18288" tIns="18288" bIns="18288" anchor="t">
            <a:spAutoFit/>
          </a:bodyPr>
          <a:lstStyle/>
          <a:p>
            <a:pPr algn="l">
              <a:spcBef>
                <a:spcPts val="0"/>
              </a:spcBef>
              <a:spcAft>
                <a:spcPts val="0"/>
              </a:spcAft>
            </a:pPr>
            <a:r>
              <a:rPr sz="1500" b="0">
                <a:latin typeface="Aptos"/>
              </a:rPr>
              <a:t>• GPT-5.4-mini plans and answers</a:t>
            </a:r>
          </a:p>
          <a:p>
            <a:r>
              <a:rPr sz="1500" b="0">
                <a:latin typeface="Aptos"/>
              </a:rPr>
              <a:t>• Comparison/synthesis/multi-step patterns route here</a:t>
            </a:r>
          </a:p>
          <a:p>
            <a:r>
              <a:rPr sz="1500" b="0">
                <a:latin typeface="Aptos"/>
              </a:rPr>
              <a:t>• May retrieve again, expand graph, or clarify</a:t>
            </a:r>
          </a:p>
          <a:p/>
          <a:p>
            <a:r>
              <a:rPr sz="1500" b="0">
                <a:latin typeface="Aptos"/>
              </a:rPr>
              <a:t>Historical same-model run: higher tokens/latency; use when complexity warrants cost.</a:t>
            </a:r>
          </a:p>
        </p:txBody>
      </p:sp>
      <p:sp>
        <p:nvSpPr>
          <p:cNvPr id="14" name="Rounded Rectangle 13"/>
          <p:cNvSpPr/>
          <p:nvPr/>
        </p:nvSpPr>
        <p:spPr>
          <a:xfrm>
            <a:off x="658368" y="5257800"/>
            <a:ext cx="10872216" cy="749808"/>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504688"/>
            <a:ext cx="160020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E6B8C0"/>
                </a:solidFill>
                <a:latin typeface="Aptos"/>
              </a:rPr>
              <a:t>Executive implication</a:t>
            </a:r>
          </a:p>
        </p:txBody>
      </p:sp>
      <p:sp>
        <p:nvSpPr>
          <p:cNvPr id="16" name="TextBox 15"/>
          <p:cNvSpPr txBox="1"/>
          <p:nvPr/>
        </p:nvSpPr>
        <p:spPr>
          <a:xfrm>
            <a:off x="2606040" y="5431536"/>
            <a:ext cx="8549640" cy="310896"/>
          </a:xfrm>
          <a:prstGeom prst="rect">
            <a:avLst/>
          </a:prstGeom>
          <a:noFill/>
        </p:spPr>
        <p:txBody>
          <a:bodyPr wrap="square" lIns="18288" rIns="18288" tIns="18288" bIns="18288" anchor="t">
            <a:spAutoFit/>
          </a:bodyPr>
          <a:lstStyle/>
          <a:p>
            <a:pPr algn="l">
              <a:spcBef>
                <a:spcPts val="0"/>
              </a:spcBef>
              <a:spcAft>
                <a:spcPts val="0"/>
              </a:spcAft>
            </a:pPr>
            <a:r>
              <a:rPr sz="1400" b="1">
                <a:latin typeface="Aptos"/>
              </a:rPr>
              <a:t>Validate routing accuracy, quality, latency, and all-in cost before relying on auto mode.</a:t>
            </a:r>
          </a:p>
        </p:txBody>
      </p:sp>
      <p:sp>
        <p:nvSpPr>
          <p:cNvPr id="17" name="TextBox 16"/>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18" name="TextBox 17"/>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06</a:t>
            </a:r>
          </a:p>
        </p:txBody>
      </p:sp>
    </p:spTree>
    <p:extLst>
      <p:ext uri="{BB962C8B-B14F-4D97-AF65-F5344CB8AC3E}">
        <p14:creationId xmlns:p14="http://schemas.microsoft.com/office/powerpoint/2010/main" val="68490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Three gates remain before a production decision</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63040"/>
            <a:ext cx="10872216" cy="530352"/>
          </a:xfrm>
          <a:prstGeom prst="roundRect">
            <a:avLst/>
          </a:prstGeom>
          <a:solidFill>
            <a:srgbClr val="FBEFF1"/>
          </a:solidFill>
          <a:ln w="12700">
            <a:solidFill>
              <a:srgbClr val="E8C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36776"/>
            <a:ext cx="10424160" cy="182880"/>
          </a:xfrm>
          <a:prstGeom prst="rect">
            <a:avLst/>
          </a:prstGeom>
          <a:noFill/>
        </p:spPr>
        <p:txBody>
          <a:bodyPr wrap="square" lIns="18288" rIns="18288" tIns="18288" bIns="18288" anchor="t">
            <a:spAutoFit/>
          </a:bodyPr>
          <a:lstStyle/>
          <a:p>
            <a:pPr algn="ctr">
              <a:spcBef>
                <a:spcPts val="0"/>
              </a:spcBef>
              <a:spcAft>
                <a:spcPts val="0"/>
              </a:spcAft>
            </a:pPr>
            <a:r>
              <a:rPr sz="1100" b="1" spc="40">
                <a:solidFill>
                  <a:srgbClr val="A31F34"/>
                </a:solidFill>
                <a:latin typeface="Aptos"/>
              </a:rPr>
              <a:t>CURRENT STATUS: RESEARCH PROTOTYPE  •  NO PRODUCTION-READINESS CLAIM</a:t>
            </a:r>
          </a:p>
        </p:txBody>
      </p:sp>
      <p:sp>
        <p:nvSpPr>
          <p:cNvPr id="7" name="Rounded Rectangle 6"/>
          <p:cNvSpPr/>
          <p:nvPr/>
        </p:nvSpPr>
        <p:spPr>
          <a:xfrm>
            <a:off x="658368" y="2267712"/>
            <a:ext cx="3456432"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67712"/>
            <a:ext cx="3456432" cy="9144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32888"/>
            <a:ext cx="3035808"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1  CLOSE INPUT GAPS</a:t>
            </a:r>
          </a:p>
        </p:txBody>
      </p:sp>
      <p:sp>
        <p:nvSpPr>
          <p:cNvPr id="10" name="TextBox 9"/>
          <p:cNvSpPr txBox="1"/>
          <p:nvPr/>
        </p:nvSpPr>
        <p:spPr>
          <a:xfrm>
            <a:off x="868680" y="3035808"/>
            <a:ext cx="3035808"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A31F34"/>
                </a:solidFill>
                <a:latin typeface="Aptos"/>
              </a:rPr>
              <a:t>OPEN RISK</a:t>
            </a:r>
          </a:p>
        </p:txBody>
      </p:sp>
      <p:sp>
        <p:nvSpPr>
          <p:cNvPr id="11" name="TextBox 10"/>
          <p:cNvSpPr txBox="1"/>
          <p:nvPr/>
        </p:nvSpPr>
        <p:spPr>
          <a:xfrm>
            <a:off x="868680" y="3328416"/>
            <a:ext cx="3035808"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Prior agent chat turns and clarification replies are not sanitized; known-pattern filters are not complete protection.</a:t>
            </a:r>
          </a:p>
        </p:txBody>
      </p:sp>
      <p:sp>
        <p:nvSpPr>
          <p:cNvPr id="12" name="Rounded Rectangle 11"/>
          <p:cNvSpPr/>
          <p:nvPr/>
        </p:nvSpPr>
        <p:spPr>
          <a:xfrm>
            <a:off x="832103" y="4480560"/>
            <a:ext cx="3108960" cy="713232"/>
          </a:xfrm>
          <a:prstGeom prst="roundRect">
            <a:avLst/>
          </a:prstGeom>
          <a:solidFill>
            <a:srgbClr val="FB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4626864"/>
            <a:ext cx="2834639"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sanitize the full conversation and explicitly bound clarification rounds.</a:t>
            </a:r>
          </a:p>
        </p:txBody>
      </p:sp>
      <p:sp>
        <p:nvSpPr>
          <p:cNvPr id="14" name="Rounded Rectangle 13"/>
          <p:cNvSpPr/>
          <p:nvPr/>
        </p:nvSpPr>
        <p:spPr>
          <a:xfrm>
            <a:off x="4361688" y="2267712"/>
            <a:ext cx="3456432"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267712"/>
            <a:ext cx="3456432" cy="9144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532888"/>
            <a:ext cx="3035808"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2  VERIFY THE EVIDENCE</a:t>
            </a:r>
          </a:p>
        </p:txBody>
      </p:sp>
      <p:sp>
        <p:nvSpPr>
          <p:cNvPr id="17" name="TextBox 16"/>
          <p:cNvSpPr txBox="1"/>
          <p:nvPr/>
        </p:nvSpPr>
        <p:spPr>
          <a:xfrm>
            <a:off x="4572000" y="3035808"/>
            <a:ext cx="3035808"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168A83"/>
                </a:solidFill>
                <a:latin typeface="Aptos"/>
              </a:rPr>
              <a:t>OPEN RISK</a:t>
            </a:r>
          </a:p>
        </p:txBody>
      </p:sp>
      <p:sp>
        <p:nvSpPr>
          <p:cNvPr id="18" name="TextBox 17"/>
          <p:cNvSpPr txBox="1"/>
          <p:nvPr/>
        </p:nvSpPr>
        <p:spPr>
          <a:xfrm>
            <a:off x="4572000" y="3328416"/>
            <a:ext cx="3035808"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A binary LLM judge does not independently measure retrieval recall, claim support, or citation fidelity.</a:t>
            </a:r>
          </a:p>
        </p:txBody>
      </p:sp>
      <p:sp>
        <p:nvSpPr>
          <p:cNvPr id="19" name="Rounded Rectangle 18"/>
          <p:cNvSpPr/>
          <p:nvPr/>
        </p:nvSpPr>
        <p:spPr>
          <a:xfrm>
            <a:off x="4535424" y="4480560"/>
            <a:ext cx="3108960" cy="713232"/>
          </a:xfrm>
          <a:prstGeom prst="roundRect">
            <a:avLst/>
          </a:prstGeom>
          <a:solidFill>
            <a:srgbClr val="ED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72583" y="4626864"/>
            <a:ext cx="2834639"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add claim/source checks and separate retrieval from answer-quality measures.</a:t>
            </a:r>
          </a:p>
        </p:txBody>
      </p:sp>
      <p:sp>
        <p:nvSpPr>
          <p:cNvPr id="21" name="Rounded Rectangle 20"/>
          <p:cNvSpPr/>
          <p:nvPr/>
        </p:nvSpPr>
        <p:spPr>
          <a:xfrm>
            <a:off x="8065008" y="2267712"/>
            <a:ext cx="3465576"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5008" y="2267712"/>
            <a:ext cx="3465576" cy="9144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532888"/>
            <a:ext cx="3044952"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3  TEST AT SCALE</a:t>
            </a:r>
          </a:p>
        </p:txBody>
      </p:sp>
      <p:sp>
        <p:nvSpPr>
          <p:cNvPr id="24" name="TextBox 23"/>
          <p:cNvSpPr txBox="1"/>
          <p:nvPr/>
        </p:nvSpPr>
        <p:spPr>
          <a:xfrm>
            <a:off x="8275320" y="3035808"/>
            <a:ext cx="3044952"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4683C5"/>
                </a:solidFill>
                <a:latin typeface="Aptos"/>
              </a:rPr>
              <a:t>OPEN RISK</a:t>
            </a:r>
          </a:p>
        </p:txBody>
      </p:sp>
      <p:sp>
        <p:nvSpPr>
          <p:cNvPr id="25" name="TextBox 24"/>
          <p:cNvSpPr txBox="1"/>
          <p:nvPr/>
        </p:nvSpPr>
        <p:spPr>
          <a:xfrm>
            <a:off x="8275320" y="3328416"/>
            <a:ext cx="3044952"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The headline comparison is five questions; reported model cost omits judge and embedding usage.</a:t>
            </a:r>
          </a:p>
        </p:txBody>
      </p:sp>
      <p:sp>
        <p:nvSpPr>
          <p:cNvPr id="26" name="Rounded Rectangle 25"/>
          <p:cNvSpPr/>
          <p:nvPr/>
        </p:nvSpPr>
        <p:spPr>
          <a:xfrm>
            <a:off x="8238744" y="4480560"/>
            <a:ext cx="3118104" cy="713232"/>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4626864"/>
            <a:ext cx="2843784"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run larger paired tests and report end-to-end cost and latency.</a:t>
            </a:r>
          </a:p>
        </p:txBody>
      </p:sp>
      <p:sp>
        <p:nvSpPr>
          <p:cNvPr id="28" name="Rounded Rectangle 27"/>
          <p:cNvSpPr/>
          <p:nvPr/>
        </p:nvSpPr>
        <p:spPr>
          <a:xfrm>
            <a:off x="658368" y="5650992"/>
            <a:ext cx="10872216" cy="438912"/>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5779008"/>
            <a:ext cx="10424160" cy="173736"/>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A9680A"/>
                </a:solidFill>
                <a:latin typeface="Aptos"/>
              </a:rPr>
              <a:t>Sequence the work: secure the interaction boundary → prove source support → measure representative performance.</a:t>
            </a:r>
          </a:p>
        </p:txBody>
      </p:sp>
      <p:sp>
        <p:nvSpPr>
          <p:cNvPr id="30" name="TextBox 29"/>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1" name="TextBox 30"/>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07</a:t>
            </a:r>
          </a:p>
        </p:txBody>
      </p:sp>
    </p:spTree>
    <p:extLst>
      <p:ext uri="{BB962C8B-B14F-4D97-AF65-F5344CB8AC3E}">
        <p14:creationId xmlns:p14="http://schemas.microsoft.com/office/powerpoint/2010/main" val="204004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r>
              <a:t>Lessons learned: earn trust before scaling</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63040"/>
            <a:ext cx="10789920" cy="457200"/>
          </a:xfrm>
          <a:prstGeom prst="rect">
            <a:avLst/>
          </a:prstGeom>
          <a:noFill/>
        </p:spPr>
        <p:txBody>
          <a:bodyPr wrap="square" lIns="18288" rIns="18288" tIns="18288" bIns="18288" anchor="t">
            <a:spAutoFit/>
          </a:bodyPr>
          <a:lstStyle/>
          <a:p>
            <a:r>
              <a:rPr sz="1700" b="1">
                <a:solidFill>
                  <a:srgbClr val="19324A"/>
                </a:solidFill>
              </a:rPr>
              <a:t>Quality, grounding, and safety must be validated together—not inferred from a promising demo.</a:t>
            </a:r>
          </a:p>
        </p:txBody>
      </p:sp>
      <p:sp>
        <p:nvSpPr>
          <p:cNvPr id="6" name="Rounded Rectangle 5"/>
          <p:cNvSpPr/>
          <p:nvPr/>
        </p:nvSpPr>
        <p:spPr>
          <a:xfrm>
            <a:off x="658368"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7" y="2496312"/>
            <a:ext cx="512064" cy="512064"/>
          </a:xfrm>
          <a:prstGeom prst="round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01</a:t>
            </a:r>
          </a:p>
        </p:txBody>
      </p:sp>
      <p:sp>
        <p:nvSpPr>
          <p:cNvPr id="9" name="TextBox 8"/>
          <p:cNvSpPr txBox="1"/>
          <p:nvPr/>
        </p:nvSpPr>
        <p:spPr>
          <a:xfrm>
            <a:off x="1380743" y="2596896"/>
            <a:ext cx="2286000" cy="393192"/>
          </a:xfrm>
          <a:prstGeom prst="rect">
            <a:avLst/>
          </a:prstGeom>
          <a:noFill/>
        </p:spPr>
        <p:txBody>
          <a:bodyPr wrap="square" lIns="18288" rIns="18288" tIns="18288" bIns="18288" anchor="t">
            <a:spAutoFit/>
          </a:bodyPr>
          <a:lstStyle/>
          <a:p>
            <a:r>
              <a:rPr sz="1150" b="1">
                <a:solidFill>
                  <a:srgbClr val="19324A"/>
                </a:solidFill>
              </a:rPr>
              <a:t>QUALITY IS A TRADE-OFF</a:t>
            </a:r>
          </a:p>
        </p:txBody>
      </p:sp>
      <p:sp>
        <p:nvSpPr>
          <p:cNvPr id="10" name="TextBox 9"/>
          <p:cNvSpPr txBox="1"/>
          <p:nvPr/>
        </p:nvSpPr>
        <p:spPr>
          <a:xfrm>
            <a:off x="886968" y="3291840"/>
            <a:ext cx="2999232" cy="786384"/>
          </a:xfrm>
          <a:prstGeom prst="rect">
            <a:avLst/>
          </a:prstGeom>
          <a:noFill/>
        </p:spPr>
        <p:txBody>
          <a:bodyPr wrap="square" lIns="18288" rIns="18288" tIns="18288" bIns="18288" anchor="t">
            <a:spAutoFit/>
          </a:bodyPr>
          <a:lstStyle/>
          <a:p>
            <a:r>
              <a:t>Lesson: adaptive retrieval may find more evidence, but its added cost needs a larger, representative test.</a:t>
            </a:r>
          </a:p>
          <a:p>
            <a:r>
              <a:t>Next: compare modes on paired questions.</a:t>
            </a:r>
          </a:p>
        </p:txBody>
      </p:sp>
      <p:sp>
        <p:nvSpPr>
          <p:cNvPr id="11" name="Rounded Rectangle 10"/>
          <p:cNvSpPr/>
          <p:nvPr/>
        </p:nvSpPr>
        <p:spPr>
          <a:xfrm>
            <a:off x="4352544"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35424" y="2496312"/>
            <a:ext cx="512064" cy="512064"/>
          </a:xfrm>
          <a:prstGeom prst="round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02</a:t>
            </a:r>
          </a:p>
        </p:txBody>
      </p:sp>
      <p:sp>
        <p:nvSpPr>
          <p:cNvPr id="14" name="TextBox 13"/>
          <p:cNvSpPr txBox="1"/>
          <p:nvPr/>
        </p:nvSpPr>
        <p:spPr>
          <a:xfrm>
            <a:off x="5074920" y="2596896"/>
            <a:ext cx="2286000" cy="393192"/>
          </a:xfrm>
          <a:prstGeom prst="rect">
            <a:avLst/>
          </a:prstGeom>
          <a:noFill/>
        </p:spPr>
        <p:txBody>
          <a:bodyPr wrap="square" lIns="18288" rIns="18288" tIns="18288" bIns="18288" anchor="t">
            <a:spAutoFit/>
          </a:bodyPr>
          <a:lstStyle/>
          <a:p>
            <a:r>
              <a:rPr sz="1150" b="1">
                <a:solidFill>
                  <a:srgbClr val="19324A"/>
                </a:solidFill>
              </a:rPr>
              <a:t>A JUDGE PASS IS NOT PROOF</a:t>
            </a:r>
          </a:p>
        </p:txBody>
      </p:sp>
      <p:sp>
        <p:nvSpPr>
          <p:cNvPr id="15" name="TextBox 14"/>
          <p:cNvSpPr txBox="1"/>
          <p:nvPr/>
        </p:nvSpPr>
        <p:spPr>
          <a:xfrm>
            <a:off x="4581144" y="3291840"/>
            <a:ext cx="2999232" cy="786384"/>
          </a:xfrm>
          <a:prstGeom prst="rect">
            <a:avLst/>
          </a:prstGeom>
          <a:noFill/>
        </p:spPr>
        <p:txBody>
          <a:bodyPr wrap="square" lIns="18288" rIns="18288" tIns="18288" bIns="18288" anchor="t">
            <a:spAutoFit/>
          </a:bodyPr>
          <a:lstStyle/>
          <a:p>
            <a:r>
              <a:t>Lesson: a pass/fail judge does not verify every claim or citation.</a:t>
            </a:r>
          </a:p>
          <a:p>
            <a:r>
              <a:t>Next: check claims against sources; score retrieval separately.</a:t>
            </a:r>
          </a:p>
        </p:txBody>
      </p:sp>
      <p:sp>
        <p:nvSpPr>
          <p:cNvPr id="16" name="Rounded Rectangle 15"/>
          <p:cNvSpPr/>
          <p:nvPr/>
        </p:nvSpPr>
        <p:spPr>
          <a:xfrm>
            <a:off x="8046720"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2496312"/>
            <a:ext cx="512064" cy="512064"/>
          </a:xfrm>
          <a:prstGeom prst="round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03</a:t>
            </a:r>
          </a:p>
        </p:txBody>
      </p:sp>
      <p:sp>
        <p:nvSpPr>
          <p:cNvPr id="19" name="TextBox 18"/>
          <p:cNvSpPr txBox="1"/>
          <p:nvPr/>
        </p:nvSpPr>
        <p:spPr>
          <a:xfrm>
            <a:off x="8769096" y="2596896"/>
            <a:ext cx="2286000" cy="393192"/>
          </a:xfrm>
          <a:prstGeom prst="rect">
            <a:avLst/>
          </a:prstGeom>
          <a:noFill/>
        </p:spPr>
        <p:txBody>
          <a:bodyPr wrap="square" lIns="18288" rIns="18288" tIns="18288" bIns="18288" anchor="t">
            <a:spAutoFit/>
          </a:bodyPr>
          <a:lstStyle/>
          <a:p>
            <a:r>
              <a:rPr sz="1150" b="1">
                <a:solidFill>
                  <a:srgbClr val="19324A"/>
                </a:solidFill>
              </a:rPr>
              <a:t>SAFETY MUST COVER THE FULL CHAT</a:t>
            </a:r>
          </a:p>
        </p:txBody>
      </p:sp>
      <p:sp>
        <p:nvSpPr>
          <p:cNvPr id="20" name="TextBox 19"/>
          <p:cNvSpPr txBox="1"/>
          <p:nvPr/>
        </p:nvSpPr>
        <p:spPr>
          <a:xfrm>
            <a:off x="8275320" y="3291840"/>
            <a:ext cx="2999232" cy="786384"/>
          </a:xfrm>
          <a:prstGeom prst="rect">
            <a:avLst/>
          </a:prstGeom>
          <a:noFill/>
        </p:spPr>
        <p:txBody>
          <a:bodyPr wrap="square" lIns="18288" rIns="18288" tIns="18288" bIns="18288" anchor="t">
            <a:spAutoFit/>
          </a:bodyPr>
          <a:lstStyle/>
          <a:p>
            <a:r>
              <a:t>Lesson: protecting only the latest input leaves gaps in a multi-turn agent.</a:t>
            </a:r>
          </a:p>
          <a:p>
            <a:r>
              <a:t>Next: sanitize all turns and bound clarification.</a:t>
            </a:r>
          </a:p>
        </p:txBody>
      </p:sp>
      <p:sp>
        <p:nvSpPr>
          <p:cNvPr id="21" name="Rounded Rectangle 20"/>
          <p:cNvSpPr/>
          <p:nvPr/>
        </p:nvSpPr>
        <p:spPr>
          <a:xfrm>
            <a:off x="658368" y="4773168"/>
            <a:ext cx="10872216" cy="960120"/>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020056"/>
            <a:ext cx="1737360" cy="201168"/>
          </a:xfrm>
          <a:prstGeom prst="rect">
            <a:avLst/>
          </a:prstGeom>
          <a:noFill/>
        </p:spPr>
        <p:txBody>
          <a:bodyPr wrap="square" lIns="18288" rIns="18288" tIns="18288" bIns="18288" anchor="t">
            <a:spAutoFit/>
          </a:bodyPr>
          <a:lstStyle/>
          <a:p>
            <a:pPr algn="l">
              <a:spcBef>
                <a:spcPts val="0"/>
              </a:spcBef>
              <a:spcAft>
                <a:spcPts val="0"/>
              </a:spcAft>
            </a:pPr>
            <a:r>
              <a:rPr sz="1000" b="1" spc="75">
                <a:solidFill>
                  <a:srgbClr val="E6B8C0"/>
                </a:solidFill>
                <a:latin typeface="Aptos"/>
              </a:rPr>
              <a:t>ALIGNMENT SOUGHT</a:t>
            </a:r>
          </a:p>
        </p:txBody>
      </p:sp>
      <p:sp>
        <p:nvSpPr>
          <p:cNvPr id="23" name="TextBox 22"/>
          <p:cNvSpPr txBox="1"/>
          <p:nvPr/>
        </p:nvSpPr>
        <p:spPr>
          <a:xfrm>
            <a:off x="2761488" y="4992624"/>
            <a:ext cx="8229600" cy="274320"/>
          </a:xfrm>
          <a:prstGeom prst="rect">
            <a:avLst/>
          </a:prstGeom>
          <a:noFill/>
        </p:spPr>
        <p:txBody>
          <a:bodyPr wrap="square" lIns="18288" rIns="18288" tIns="18288" bIns="18288" anchor="t">
            <a:spAutoFit/>
          </a:bodyPr>
          <a:lstStyle/>
          <a:p>
            <a:r>
              <a:rPr sz="1500" b="1">
                <a:solidFill>
                  <a:srgbClr val="FFFFFF"/>
                </a:solidFill>
                <a:latin typeface="Aptos"/>
              </a:rPr>
              <a:t>Agree scope, owners, and success criteria before any pilot.</a:t>
            </a:r>
          </a:p>
        </p:txBody>
      </p:sp>
      <p:sp>
        <p:nvSpPr>
          <p:cNvPr id="24" name="TextBox 23"/>
          <p:cNvSpPr txBox="1"/>
          <p:nvPr/>
        </p:nvSpPr>
        <p:spPr>
          <a:xfrm>
            <a:off x="877824" y="5971032"/>
            <a:ext cx="10424160" cy="246888"/>
          </a:xfrm>
          <a:prstGeom prst="rect">
            <a:avLst/>
          </a:prstGeom>
          <a:noFill/>
        </p:spPr>
        <p:txBody>
          <a:bodyPr wrap="square" lIns="18288" rIns="18288" tIns="18288" bIns="18288" anchor="t">
            <a:spAutoFit/>
          </a:bodyPr>
          <a:lstStyle/>
          <a:p>
            <a:pPr algn="ctr">
              <a:spcBef>
                <a:spcPts val="0"/>
              </a:spcBef>
              <a:spcAft>
                <a:spcPts val="0"/>
              </a:spcAft>
            </a:pPr>
            <a:r>
              <a:rPr sz="1300" b="0">
                <a:solidFill>
                  <a:srgbClr val="62778A"/>
                </a:solidFill>
                <a:latin typeface="Aptos"/>
              </a:rPr>
              <a:t>The opportunity is promising; evidence and safeguards determine whether it is ready to scale.</a:t>
            </a:r>
          </a:p>
        </p:txBody>
      </p:sp>
      <p:sp>
        <p:nvSpPr>
          <p:cNvPr id="25" name="TextBox 24"/>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6" name="TextBox 25"/>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08</a:t>
            </a:r>
          </a:p>
        </p:txBody>
      </p:sp>
    </p:spTree>
    <p:extLst>
      <p:ext uri="{BB962C8B-B14F-4D97-AF65-F5344CB8AC3E}">
        <p14:creationId xmlns:p14="http://schemas.microsoft.com/office/powerpoint/2010/main" val="3937486198"/>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Words>
  <Application>Microsoft Office PowerPoint</Application>
  <PresentationFormat>Widescreen</PresentationFormat>
  <Paragraphs>58</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Miguel Herrera</dc:creator>
  <cp:lastModifiedBy>Fizza Maira</cp:lastModifiedBy>
  <cp:revision>1</cp:revision>
  <dcterms:created xsi:type="dcterms:W3CDTF">2018-11-05T13:58:18Z</dcterms:created>
  <dcterms:modified xsi:type="dcterms:W3CDTF">2026-08-06T07:13:19Z</dcterms:modified>
  <dc:title>Capstone Checkpoint 8.1 Design Review — Presentation Draft</dc:title>
  <dc:subject>Wikipedia RAG solution architecture, evaluation, and trade-offs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0x010100296DC331548237488BA9A87C5C22BBA4</vt:lpwstr>
  </property>
  <property fmtid="{D5CDD505-2E9C-101B-9397-08002B2CF9AE}" pid="3" name="ArticulateGUID">
    <vt:lpwstr>405BEB8A-A8B9-422E-86C1-391F774E521D</vt:lpwstr>
  </property>
  <property fmtid="{D5CDD505-2E9C-101B-9397-08002B2CF9AE}" pid="4" name="ArticulatePath">
    <vt:lpwstr>MIT_xPRO_PPT_Template</vt:lpwstr>
  </property>
</Properties>
</file>